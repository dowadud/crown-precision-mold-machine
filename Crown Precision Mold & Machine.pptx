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rown Precision Mold &amp; Machine: Revolutionizing Tire Mold Services for Global Tire Producers (Fictional Company Established in 2026)" id="{0CEF57AF-83DE-40AB-AE70-03239AF4E619}">
          <p14:sldIdLst>
            <p14:sldId id="2561"/>
            <p14:sldId id="2562"/>
          </p14:sldIdLst>
        </p14:section>
        <p14:section name="Company Origins and Founding Vision" id="{39285F69-FCE5-4A35-A212-D43660740A21}">
          <p14:sldIdLst>
            <p14:sldId id="2563"/>
            <p14:sldId id="2564"/>
            <p14:sldId id="2565"/>
            <p14:sldId id="2566"/>
          </p14:sldIdLst>
        </p14:section>
        <p14:section name="Strategic Partnerships with Leading Tire Manufacturers" id="{F06D995A-80D4-478E-9687-834FB834A8B1}">
          <p14:sldIdLst>
            <p14:sldId id="2567"/>
            <p14:sldId id="2568"/>
            <p14:sldId id="2569"/>
            <p14:sldId id="2570"/>
          </p14:sldIdLst>
        </p14:section>
        <p14:section name="Comprehensive Tire Mold Services" id="{8E7B4BAB-84D2-41CF-8E7D-D5C1C34E29FC}">
          <p14:sldIdLst>
            <p14:sldId id="2571"/>
            <p14:sldId id="2572"/>
            <p14:sldId id="2573"/>
            <p14:sldId id="2574"/>
          </p14:sldIdLst>
        </p14:section>
        <p14:section name="Value Delivered: Cost Savings, Quality Improvement, and Market Competitiveness" id="{1CA7F573-238C-490B-A5F3-6489972AECCA}">
          <p14:sldIdLst>
            <p14:sldId id="2575"/>
            <p14:sldId id="2576"/>
            <p14:sldId id="2577"/>
            <p14:sldId id="2578"/>
          </p14:sldIdLst>
        </p14:section>
        <p14:section name="Commitment to Service Excellence and Innovation" id="{C47B9BF5-56F1-4DBA-AECE-C8C85B5E1161}">
          <p14:sldIdLst>
            <p14:sldId id="2579"/>
            <p14:sldId id="2580"/>
            <p14:sldId id="2581"/>
            <p14:sldId id="2582"/>
          </p14:sldIdLst>
        </p14:section>
        <p14:section name="Conclusion: Driving Innovation and Excellence in Tire Mold Services" id="{3B142CC3-354C-41BB-99AC-FCC4AF5772BB}">
          <p14:sldIdLst>
            <p14:sldId id="258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144" y="306"/>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D9A386-7A81-4AFB-BE4C-6BB02DEBF09A}"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96E9D275-FD6E-4408-AC11-D56B55910633}">
      <dgm:prSet/>
      <dgm:spPr/>
      <dgm:t>
        <a:bodyPr/>
        <a:lstStyle/>
        <a:p>
          <a:pPr>
            <a:lnSpc>
              <a:spcPct val="100000"/>
            </a:lnSpc>
            <a:defRPr b="1"/>
          </a:pPr>
          <a:r>
            <a:rPr lang="en-US"/>
            <a:t>Pioneering Industry Leadership</a:t>
          </a:r>
        </a:p>
      </dgm:t>
    </dgm:pt>
    <dgm:pt modelId="{DA6D1B55-1E99-45FC-B48F-1A2E9FAA3BDA}" type="parTrans" cxnId="{0677DA35-8138-44E9-A149-5A6B7E4C0DF5}">
      <dgm:prSet/>
      <dgm:spPr/>
      <dgm:t>
        <a:bodyPr/>
        <a:lstStyle/>
        <a:p>
          <a:endParaRPr lang="en-US"/>
        </a:p>
      </dgm:t>
    </dgm:pt>
    <dgm:pt modelId="{8634A81F-C818-4CD8-B710-92578047C776}" type="sibTrans" cxnId="{0677DA35-8138-44E9-A149-5A6B7E4C0DF5}">
      <dgm:prSet/>
      <dgm:spPr/>
      <dgm:t>
        <a:bodyPr/>
        <a:lstStyle/>
        <a:p>
          <a:pPr>
            <a:lnSpc>
              <a:spcPct val="100000"/>
            </a:lnSpc>
            <a:defRPr b="1"/>
          </a:pPr>
          <a:endParaRPr lang="en-US"/>
        </a:p>
      </dgm:t>
    </dgm:pt>
    <dgm:pt modelId="{36B5E655-A3BA-4DDC-B595-1E5AC9D6395C}">
      <dgm:prSet/>
      <dgm:spPr/>
      <dgm:t>
        <a:bodyPr/>
        <a:lstStyle/>
        <a:p>
          <a:pPr>
            <a:lnSpc>
              <a:spcPct val="100000"/>
            </a:lnSpc>
          </a:pPr>
          <a:r>
            <a:rPr lang="en-US"/>
            <a:t>Crown Precision Mold &amp; Machine leads the tire mold industry through expert vision and innovative practices.</a:t>
          </a:r>
        </a:p>
      </dgm:t>
    </dgm:pt>
    <dgm:pt modelId="{C22B5B35-EE01-4429-8EB7-EDE20D2E059C}" type="parTrans" cxnId="{B507648E-B694-45F0-B166-03B6ECE1681B}">
      <dgm:prSet/>
      <dgm:spPr/>
      <dgm:t>
        <a:bodyPr/>
        <a:lstStyle/>
        <a:p>
          <a:endParaRPr lang="en-US"/>
        </a:p>
      </dgm:t>
    </dgm:pt>
    <dgm:pt modelId="{3EF57255-ADF3-4326-B68A-12AA77241FAE}" type="sibTrans" cxnId="{B507648E-B694-45F0-B166-03B6ECE1681B}">
      <dgm:prSet/>
      <dgm:spPr/>
      <dgm:t>
        <a:bodyPr/>
        <a:lstStyle/>
        <a:p>
          <a:endParaRPr lang="en-US"/>
        </a:p>
      </dgm:t>
    </dgm:pt>
    <dgm:pt modelId="{E28AD9D9-411D-4E35-8BF7-12B5DEE95B9E}">
      <dgm:prSet/>
      <dgm:spPr/>
      <dgm:t>
        <a:bodyPr/>
        <a:lstStyle/>
        <a:p>
          <a:pPr>
            <a:lnSpc>
              <a:spcPct val="100000"/>
            </a:lnSpc>
            <a:defRPr b="1"/>
          </a:pPr>
          <a:r>
            <a:rPr lang="en-US"/>
            <a:t>Strategic Global Partnerships</a:t>
          </a:r>
        </a:p>
      </dgm:t>
    </dgm:pt>
    <dgm:pt modelId="{44258B8A-87C2-4A0A-98D5-F68925ABB0F0}" type="parTrans" cxnId="{D7E77385-F442-4A14-91A8-6EFFDCDE7A5A}">
      <dgm:prSet/>
      <dgm:spPr/>
      <dgm:t>
        <a:bodyPr/>
        <a:lstStyle/>
        <a:p>
          <a:endParaRPr lang="en-US"/>
        </a:p>
      </dgm:t>
    </dgm:pt>
    <dgm:pt modelId="{7515818C-2083-46A4-B8BA-694BED595B56}" type="sibTrans" cxnId="{D7E77385-F442-4A14-91A8-6EFFDCDE7A5A}">
      <dgm:prSet/>
      <dgm:spPr/>
      <dgm:t>
        <a:bodyPr/>
        <a:lstStyle/>
        <a:p>
          <a:pPr>
            <a:lnSpc>
              <a:spcPct val="100000"/>
            </a:lnSpc>
            <a:defRPr b="1"/>
          </a:pPr>
          <a:endParaRPr lang="en-US"/>
        </a:p>
      </dgm:t>
    </dgm:pt>
    <dgm:pt modelId="{FA4B8103-B357-4E15-9E1B-A28632103A9A}">
      <dgm:prSet/>
      <dgm:spPr/>
      <dgm:t>
        <a:bodyPr/>
        <a:lstStyle/>
        <a:p>
          <a:pPr>
            <a:lnSpc>
              <a:spcPct val="100000"/>
            </a:lnSpc>
          </a:pPr>
          <a:r>
            <a:rPr lang="en-US"/>
            <a:t>Strong collaborations with global leaders enhance their market reach and technological capabilities.</a:t>
          </a:r>
        </a:p>
      </dgm:t>
    </dgm:pt>
    <dgm:pt modelId="{B790BB6B-C30D-4773-80BF-1DB22A7C33F6}" type="parTrans" cxnId="{D2B1B5CE-22C3-4F59-9D0E-8D5CB5A27192}">
      <dgm:prSet/>
      <dgm:spPr/>
      <dgm:t>
        <a:bodyPr/>
        <a:lstStyle/>
        <a:p>
          <a:endParaRPr lang="en-US"/>
        </a:p>
      </dgm:t>
    </dgm:pt>
    <dgm:pt modelId="{330D92FF-5110-49A7-9E41-D04773F022DA}" type="sibTrans" cxnId="{D2B1B5CE-22C3-4F59-9D0E-8D5CB5A27192}">
      <dgm:prSet/>
      <dgm:spPr/>
      <dgm:t>
        <a:bodyPr/>
        <a:lstStyle/>
        <a:p>
          <a:endParaRPr lang="en-US"/>
        </a:p>
      </dgm:t>
    </dgm:pt>
    <dgm:pt modelId="{126AF28D-0F09-47FB-B6DD-C943FCC4DC5D}">
      <dgm:prSet/>
      <dgm:spPr/>
      <dgm:t>
        <a:bodyPr/>
        <a:lstStyle/>
        <a:p>
          <a:pPr>
            <a:lnSpc>
              <a:spcPct val="100000"/>
            </a:lnSpc>
            <a:defRPr b="1"/>
          </a:pPr>
          <a:r>
            <a:rPr lang="en-US"/>
            <a:t>Commitment to Quality and Cost Efficiency</a:t>
          </a:r>
        </a:p>
      </dgm:t>
    </dgm:pt>
    <dgm:pt modelId="{FED89E67-F6E3-4932-96F0-96129820CB49}" type="parTrans" cxnId="{EE3D918B-D16B-40D5-9DB0-E9E58BECE074}">
      <dgm:prSet/>
      <dgm:spPr/>
      <dgm:t>
        <a:bodyPr/>
        <a:lstStyle/>
        <a:p>
          <a:endParaRPr lang="en-US"/>
        </a:p>
      </dgm:t>
    </dgm:pt>
    <dgm:pt modelId="{F8157FE7-94DD-4113-B73B-EDFE131F6251}" type="sibTrans" cxnId="{EE3D918B-D16B-40D5-9DB0-E9E58BECE074}">
      <dgm:prSet/>
      <dgm:spPr/>
      <dgm:t>
        <a:bodyPr/>
        <a:lstStyle/>
        <a:p>
          <a:pPr>
            <a:lnSpc>
              <a:spcPct val="100000"/>
            </a:lnSpc>
            <a:defRPr b="1"/>
          </a:pPr>
          <a:endParaRPr lang="en-US"/>
        </a:p>
      </dgm:t>
    </dgm:pt>
    <dgm:pt modelId="{D63248A9-7C3F-4170-B285-B45A9355443D}">
      <dgm:prSet/>
      <dgm:spPr/>
      <dgm:t>
        <a:bodyPr/>
        <a:lstStyle/>
        <a:p>
          <a:pPr>
            <a:lnSpc>
              <a:spcPct val="100000"/>
            </a:lnSpc>
          </a:pPr>
          <a:r>
            <a:rPr lang="en-US"/>
            <a:t>Focus on delivering high-quality mold services while maintaining cost effectiveness for customers.</a:t>
          </a:r>
        </a:p>
      </dgm:t>
    </dgm:pt>
    <dgm:pt modelId="{83A301FD-14F0-40B9-94BB-3354530A61C6}" type="parTrans" cxnId="{E5D7A385-25A4-4DAF-8878-FF8D6226B2D3}">
      <dgm:prSet/>
      <dgm:spPr/>
      <dgm:t>
        <a:bodyPr/>
        <a:lstStyle/>
        <a:p>
          <a:endParaRPr lang="en-US"/>
        </a:p>
      </dgm:t>
    </dgm:pt>
    <dgm:pt modelId="{1C9F0729-AC5D-4FDA-8A41-E019193847A1}" type="sibTrans" cxnId="{E5D7A385-25A4-4DAF-8878-FF8D6226B2D3}">
      <dgm:prSet/>
      <dgm:spPr/>
      <dgm:t>
        <a:bodyPr/>
        <a:lstStyle/>
        <a:p>
          <a:endParaRPr lang="en-US"/>
        </a:p>
      </dgm:t>
    </dgm:pt>
    <dgm:pt modelId="{30480BDA-C3ED-4ABD-B431-3F72D994B716}">
      <dgm:prSet/>
      <dgm:spPr/>
      <dgm:t>
        <a:bodyPr/>
        <a:lstStyle/>
        <a:p>
          <a:pPr>
            <a:lnSpc>
              <a:spcPct val="100000"/>
            </a:lnSpc>
            <a:defRPr b="1"/>
          </a:pPr>
          <a:r>
            <a:rPr lang="en-US"/>
            <a:t>Customer-Centric Innovation</a:t>
          </a:r>
        </a:p>
      </dgm:t>
    </dgm:pt>
    <dgm:pt modelId="{C176DE81-447F-48CB-AD81-C5B55BB4EB92}" type="parTrans" cxnId="{12E3E8BD-D759-4508-BBE5-375A036BBBAF}">
      <dgm:prSet/>
      <dgm:spPr/>
      <dgm:t>
        <a:bodyPr/>
        <a:lstStyle/>
        <a:p>
          <a:endParaRPr lang="en-US"/>
        </a:p>
      </dgm:t>
    </dgm:pt>
    <dgm:pt modelId="{834D15F6-BC6C-4CC6-8CE6-EF6F80FEF1A9}" type="sibTrans" cxnId="{12E3E8BD-D759-4508-BBE5-375A036BBBAF}">
      <dgm:prSet/>
      <dgm:spPr/>
      <dgm:t>
        <a:bodyPr/>
        <a:lstStyle/>
        <a:p>
          <a:endParaRPr lang="en-US"/>
        </a:p>
      </dgm:t>
    </dgm:pt>
    <dgm:pt modelId="{CE69D8B1-76B6-4821-AB55-385486DD8F3C}">
      <dgm:prSet/>
      <dgm:spPr/>
      <dgm:t>
        <a:bodyPr/>
        <a:lstStyle/>
        <a:p>
          <a:pPr>
            <a:lnSpc>
              <a:spcPct val="100000"/>
            </a:lnSpc>
          </a:pPr>
          <a:r>
            <a:rPr lang="en-US"/>
            <a:t>Innovation driven by customer needs ensures continued growth and industry excellence.</a:t>
          </a:r>
        </a:p>
      </dgm:t>
    </dgm:pt>
    <dgm:pt modelId="{6772B1D0-E20C-4F22-B1B4-573EAB8DF224}" type="parTrans" cxnId="{66D6A820-B6E6-4185-A7D7-048B07E2B97A}">
      <dgm:prSet/>
      <dgm:spPr/>
      <dgm:t>
        <a:bodyPr/>
        <a:lstStyle/>
        <a:p>
          <a:endParaRPr lang="en-US"/>
        </a:p>
      </dgm:t>
    </dgm:pt>
    <dgm:pt modelId="{F8717D7A-C9E3-4897-B04B-809185665183}" type="sibTrans" cxnId="{66D6A820-B6E6-4185-A7D7-048B07E2B97A}">
      <dgm:prSet/>
      <dgm:spPr/>
      <dgm:t>
        <a:bodyPr/>
        <a:lstStyle/>
        <a:p>
          <a:endParaRPr lang="en-US"/>
        </a:p>
      </dgm:t>
    </dgm:pt>
    <dgm:pt modelId="{61E738F9-0641-4F35-94FA-FB759D8641FA}" type="pres">
      <dgm:prSet presAssocID="{85D9A386-7A81-4AFB-BE4C-6BB02DEBF09A}" presName="Name0" presStyleCnt="0">
        <dgm:presLayoutVars>
          <dgm:dir/>
          <dgm:resizeHandles val="exact"/>
        </dgm:presLayoutVars>
      </dgm:prSet>
      <dgm:spPr/>
    </dgm:pt>
    <dgm:pt modelId="{876A509C-395D-4BA1-B40D-1F65BD762220}" type="pres">
      <dgm:prSet presAssocID="{96E9D275-FD6E-4408-AC11-D56B55910633}" presName="compNode" presStyleCnt="0"/>
      <dgm:spPr/>
    </dgm:pt>
    <dgm:pt modelId="{EBDB350B-3BFF-45E2-A214-5087E78F577F}" type="pres">
      <dgm:prSet presAssocID="{96E9D275-FD6E-4408-AC11-D56B55910633}" presName="pictRect" presStyleLbl="revTx" presStyleIdx="0" presStyleCnt="8">
        <dgm:presLayoutVars>
          <dgm:chMax val="0"/>
          <dgm:bulletEnabled/>
        </dgm:presLayoutVars>
      </dgm:prSet>
      <dgm:spPr/>
    </dgm:pt>
    <dgm:pt modelId="{671CA9DC-5604-4C0C-B0AC-F4AAA62EED94}" type="pres">
      <dgm:prSet presAssocID="{96E9D275-FD6E-4408-AC11-D56B55910633}" presName="textRect" presStyleLbl="revTx" presStyleIdx="1" presStyleCnt="8">
        <dgm:presLayoutVars>
          <dgm:bulletEnabled/>
        </dgm:presLayoutVars>
      </dgm:prSet>
      <dgm:spPr/>
    </dgm:pt>
    <dgm:pt modelId="{153DB470-7D84-4342-97B7-375B168FA77D}" type="pres">
      <dgm:prSet presAssocID="{8634A81F-C818-4CD8-B710-92578047C776}" presName="sibTrans" presStyleLbl="sibTrans2D1" presStyleIdx="0" presStyleCnt="0"/>
      <dgm:spPr/>
    </dgm:pt>
    <dgm:pt modelId="{36A2D6EC-9431-4ECD-903E-9524623C2D1E}" type="pres">
      <dgm:prSet presAssocID="{E28AD9D9-411D-4E35-8BF7-12B5DEE95B9E}" presName="compNode" presStyleCnt="0"/>
      <dgm:spPr/>
    </dgm:pt>
    <dgm:pt modelId="{7FB2F229-D92F-47FC-9FE7-A77200AD24DC}" type="pres">
      <dgm:prSet presAssocID="{E28AD9D9-411D-4E35-8BF7-12B5DEE95B9E}" presName="pictRect" presStyleLbl="revTx" presStyleIdx="2" presStyleCnt="8">
        <dgm:presLayoutVars>
          <dgm:chMax val="0"/>
          <dgm:bulletEnabled/>
        </dgm:presLayoutVars>
      </dgm:prSet>
      <dgm:spPr/>
    </dgm:pt>
    <dgm:pt modelId="{456D290A-1AF7-4049-A38B-25554D009D92}" type="pres">
      <dgm:prSet presAssocID="{E28AD9D9-411D-4E35-8BF7-12B5DEE95B9E}" presName="textRect" presStyleLbl="revTx" presStyleIdx="3" presStyleCnt="8">
        <dgm:presLayoutVars>
          <dgm:bulletEnabled/>
        </dgm:presLayoutVars>
      </dgm:prSet>
      <dgm:spPr/>
    </dgm:pt>
    <dgm:pt modelId="{E56CD81D-D117-4B88-A284-AEA4784F0CC9}" type="pres">
      <dgm:prSet presAssocID="{7515818C-2083-46A4-B8BA-694BED595B56}" presName="sibTrans" presStyleLbl="sibTrans2D1" presStyleIdx="0" presStyleCnt="0"/>
      <dgm:spPr/>
    </dgm:pt>
    <dgm:pt modelId="{80A146F8-C867-449C-AAA0-25C7F6DBB9B7}" type="pres">
      <dgm:prSet presAssocID="{126AF28D-0F09-47FB-B6DD-C943FCC4DC5D}" presName="compNode" presStyleCnt="0"/>
      <dgm:spPr/>
    </dgm:pt>
    <dgm:pt modelId="{2F12C97E-A598-4EEB-8DC4-1F0819DDF54E}" type="pres">
      <dgm:prSet presAssocID="{126AF28D-0F09-47FB-B6DD-C943FCC4DC5D}" presName="pictRect" presStyleLbl="revTx" presStyleIdx="4" presStyleCnt="8">
        <dgm:presLayoutVars>
          <dgm:chMax val="0"/>
          <dgm:bulletEnabled/>
        </dgm:presLayoutVars>
      </dgm:prSet>
      <dgm:spPr/>
    </dgm:pt>
    <dgm:pt modelId="{5F42C5EF-EC30-429A-84D9-49E8A31D40F1}" type="pres">
      <dgm:prSet presAssocID="{126AF28D-0F09-47FB-B6DD-C943FCC4DC5D}" presName="textRect" presStyleLbl="revTx" presStyleIdx="5" presStyleCnt="8">
        <dgm:presLayoutVars>
          <dgm:bulletEnabled/>
        </dgm:presLayoutVars>
      </dgm:prSet>
      <dgm:spPr/>
    </dgm:pt>
    <dgm:pt modelId="{85B389C9-2886-47D2-B0E5-BED4A3E6B90F}" type="pres">
      <dgm:prSet presAssocID="{F8157FE7-94DD-4113-B73B-EDFE131F6251}" presName="sibTrans" presStyleLbl="sibTrans2D1" presStyleIdx="0" presStyleCnt="0"/>
      <dgm:spPr/>
    </dgm:pt>
    <dgm:pt modelId="{5DF90CF1-3139-46D7-9E54-653B13F01ADD}" type="pres">
      <dgm:prSet presAssocID="{30480BDA-C3ED-4ABD-B431-3F72D994B716}" presName="compNode" presStyleCnt="0"/>
      <dgm:spPr/>
    </dgm:pt>
    <dgm:pt modelId="{025D7A0F-3BAF-4FAC-9A3C-6DAB37DAB690}" type="pres">
      <dgm:prSet presAssocID="{30480BDA-C3ED-4ABD-B431-3F72D994B716}" presName="pictRect" presStyleLbl="revTx" presStyleIdx="6" presStyleCnt="8">
        <dgm:presLayoutVars>
          <dgm:chMax val="0"/>
          <dgm:bulletEnabled/>
        </dgm:presLayoutVars>
      </dgm:prSet>
      <dgm:spPr/>
    </dgm:pt>
    <dgm:pt modelId="{2A85F4E8-D3DC-4F70-AEFF-95B15B3A2CA5}" type="pres">
      <dgm:prSet presAssocID="{30480BDA-C3ED-4ABD-B431-3F72D994B716}" presName="textRect" presStyleLbl="revTx" presStyleIdx="7" presStyleCnt="8">
        <dgm:presLayoutVars>
          <dgm:bulletEnabled/>
        </dgm:presLayoutVars>
      </dgm:prSet>
      <dgm:spPr/>
    </dgm:pt>
  </dgm:ptLst>
  <dgm:cxnLst>
    <dgm:cxn modelId="{3C048602-54AC-4660-826F-6C4FD7AE52DC}" type="presOf" srcId="{7515818C-2083-46A4-B8BA-694BED595B56}" destId="{E56CD81D-D117-4B88-A284-AEA4784F0CC9}" srcOrd="0" destOrd="0" presId="urn:microsoft.com/office/officeart/2024/3/layout/hArchList1"/>
    <dgm:cxn modelId="{8DB91019-C49B-4003-96D2-CFD5E2BA175A}" type="presOf" srcId="{FA4B8103-B357-4E15-9E1B-A28632103A9A}" destId="{456D290A-1AF7-4049-A38B-25554D009D92}" srcOrd="0" destOrd="0" presId="urn:microsoft.com/office/officeart/2024/3/layout/hArchList1"/>
    <dgm:cxn modelId="{01854B20-EF70-452F-97D8-0EB4B0025E34}" type="presOf" srcId="{8634A81F-C818-4CD8-B710-92578047C776}" destId="{153DB470-7D84-4342-97B7-375B168FA77D}" srcOrd="0" destOrd="0" presId="urn:microsoft.com/office/officeart/2024/3/layout/hArchList1"/>
    <dgm:cxn modelId="{66D6A820-B6E6-4185-A7D7-048B07E2B97A}" srcId="{30480BDA-C3ED-4ABD-B431-3F72D994B716}" destId="{CE69D8B1-76B6-4821-AB55-385486DD8F3C}" srcOrd="0" destOrd="0" parTransId="{6772B1D0-E20C-4F22-B1B4-573EAB8DF224}" sibTransId="{F8717D7A-C9E3-4897-B04B-809185665183}"/>
    <dgm:cxn modelId="{2B881822-84D9-4C6E-A38E-E7E5F430DBC8}" type="presOf" srcId="{D63248A9-7C3F-4170-B285-B45A9355443D}" destId="{5F42C5EF-EC30-429A-84D9-49E8A31D40F1}" srcOrd="0" destOrd="0" presId="urn:microsoft.com/office/officeart/2024/3/layout/hArchList1"/>
    <dgm:cxn modelId="{0677DA35-8138-44E9-A149-5A6B7E4C0DF5}" srcId="{85D9A386-7A81-4AFB-BE4C-6BB02DEBF09A}" destId="{96E9D275-FD6E-4408-AC11-D56B55910633}" srcOrd="0" destOrd="0" parTransId="{DA6D1B55-1E99-45FC-B48F-1A2E9FAA3BDA}" sibTransId="{8634A81F-C818-4CD8-B710-92578047C776}"/>
    <dgm:cxn modelId="{D1B57363-618A-4225-BDAA-1FA1EFB15DE5}" type="presOf" srcId="{30480BDA-C3ED-4ABD-B431-3F72D994B716}" destId="{025D7A0F-3BAF-4FAC-9A3C-6DAB37DAB690}" srcOrd="0" destOrd="0" presId="urn:microsoft.com/office/officeart/2024/3/layout/hArchList1"/>
    <dgm:cxn modelId="{BF1E2544-5267-460C-867F-6A11FB251E28}" type="presOf" srcId="{85D9A386-7A81-4AFB-BE4C-6BB02DEBF09A}" destId="{61E738F9-0641-4F35-94FA-FB759D8641FA}" srcOrd="0" destOrd="0" presId="urn:microsoft.com/office/officeart/2024/3/layout/hArchList1"/>
    <dgm:cxn modelId="{D7E77385-F442-4A14-91A8-6EFFDCDE7A5A}" srcId="{85D9A386-7A81-4AFB-BE4C-6BB02DEBF09A}" destId="{E28AD9D9-411D-4E35-8BF7-12B5DEE95B9E}" srcOrd="1" destOrd="0" parTransId="{44258B8A-87C2-4A0A-98D5-F68925ABB0F0}" sibTransId="{7515818C-2083-46A4-B8BA-694BED595B56}"/>
    <dgm:cxn modelId="{E5D7A385-25A4-4DAF-8878-FF8D6226B2D3}" srcId="{126AF28D-0F09-47FB-B6DD-C943FCC4DC5D}" destId="{D63248A9-7C3F-4170-B285-B45A9355443D}" srcOrd="0" destOrd="0" parTransId="{83A301FD-14F0-40B9-94BB-3354530A61C6}" sibTransId="{1C9F0729-AC5D-4FDA-8A41-E019193847A1}"/>
    <dgm:cxn modelId="{EE3D918B-D16B-40D5-9DB0-E9E58BECE074}" srcId="{85D9A386-7A81-4AFB-BE4C-6BB02DEBF09A}" destId="{126AF28D-0F09-47FB-B6DD-C943FCC4DC5D}" srcOrd="2" destOrd="0" parTransId="{FED89E67-F6E3-4932-96F0-96129820CB49}" sibTransId="{F8157FE7-94DD-4113-B73B-EDFE131F6251}"/>
    <dgm:cxn modelId="{B507648E-B694-45F0-B166-03B6ECE1681B}" srcId="{96E9D275-FD6E-4408-AC11-D56B55910633}" destId="{36B5E655-A3BA-4DDC-B595-1E5AC9D6395C}" srcOrd="0" destOrd="0" parTransId="{C22B5B35-EE01-4429-8EB7-EDE20D2E059C}" sibTransId="{3EF57255-ADF3-4326-B68A-12AA77241FAE}"/>
    <dgm:cxn modelId="{F4296BA2-6CD5-407C-B3E4-895E3523FD7B}" type="presOf" srcId="{CE69D8B1-76B6-4821-AB55-385486DD8F3C}" destId="{2A85F4E8-D3DC-4F70-AEFF-95B15B3A2CA5}" srcOrd="0" destOrd="0" presId="urn:microsoft.com/office/officeart/2024/3/layout/hArchList1"/>
    <dgm:cxn modelId="{D2B98BA7-C622-49B9-8021-AF36E5C363DF}" type="presOf" srcId="{36B5E655-A3BA-4DDC-B595-1E5AC9D6395C}" destId="{671CA9DC-5604-4C0C-B0AC-F4AAA62EED94}" srcOrd="0" destOrd="0" presId="urn:microsoft.com/office/officeart/2024/3/layout/hArchList1"/>
    <dgm:cxn modelId="{12E3E8BD-D759-4508-BBE5-375A036BBBAF}" srcId="{85D9A386-7A81-4AFB-BE4C-6BB02DEBF09A}" destId="{30480BDA-C3ED-4ABD-B431-3F72D994B716}" srcOrd="3" destOrd="0" parTransId="{C176DE81-447F-48CB-AD81-C5B55BB4EB92}" sibTransId="{834D15F6-BC6C-4CC6-8CE6-EF6F80FEF1A9}"/>
    <dgm:cxn modelId="{BD167FCB-6124-4F0E-A98F-A8A74C9EB655}" type="presOf" srcId="{E28AD9D9-411D-4E35-8BF7-12B5DEE95B9E}" destId="{7FB2F229-D92F-47FC-9FE7-A77200AD24DC}" srcOrd="0" destOrd="0" presId="urn:microsoft.com/office/officeart/2024/3/layout/hArchList1"/>
    <dgm:cxn modelId="{D2B1B5CE-22C3-4F59-9D0E-8D5CB5A27192}" srcId="{E28AD9D9-411D-4E35-8BF7-12B5DEE95B9E}" destId="{FA4B8103-B357-4E15-9E1B-A28632103A9A}" srcOrd="0" destOrd="0" parTransId="{B790BB6B-C30D-4773-80BF-1DB22A7C33F6}" sibTransId="{330D92FF-5110-49A7-9E41-D04773F022DA}"/>
    <dgm:cxn modelId="{D515E8E6-E82F-47EA-AFBE-D42FE0C5CCF7}" type="presOf" srcId="{F8157FE7-94DD-4113-B73B-EDFE131F6251}" destId="{85B389C9-2886-47D2-B0E5-BED4A3E6B90F}" srcOrd="0" destOrd="0" presId="urn:microsoft.com/office/officeart/2024/3/layout/hArchList1"/>
    <dgm:cxn modelId="{D1F8E6ED-8DFD-4AAB-9177-D669F2CBAF34}" type="presOf" srcId="{126AF28D-0F09-47FB-B6DD-C943FCC4DC5D}" destId="{2F12C97E-A598-4EEB-8DC4-1F0819DDF54E}" srcOrd="0" destOrd="0" presId="urn:microsoft.com/office/officeart/2024/3/layout/hArchList1"/>
    <dgm:cxn modelId="{A98C40FA-F6F0-4F72-A9B5-11CC99921514}" type="presOf" srcId="{96E9D275-FD6E-4408-AC11-D56B55910633}" destId="{EBDB350B-3BFF-45E2-A214-5087E78F577F}" srcOrd="0" destOrd="0" presId="urn:microsoft.com/office/officeart/2024/3/layout/hArchList1"/>
    <dgm:cxn modelId="{002BEF8C-D1EC-480C-AD9B-472DED93D826}" type="presParOf" srcId="{61E738F9-0641-4F35-94FA-FB759D8641FA}" destId="{876A509C-395D-4BA1-B40D-1F65BD762220}" srcOrd="0" destOrd="0" presId="urn:microsoft.com/office/officeart/2024/3/layout/hArchList1"/>
    <dgm:cxn modelId="{AACA406E-73D5-40BD-B443-DB8F3E9356A9}" type="presParOf" srcId="{876A509C-395D-4BA1-B40D-1F65BD762220}" destId="{EBDB350B-3BFF-45E2-A214-5087E78F577F}" srcOrd="0" destOrd="0" presId="urn:microsoft.com/office/officeart/2024/3/layout/hArchList1"/>
    <dgm:cxn modelId="{85A1B580-2DE5-4D65-86BB-A226BD107E34}" type="presParOf" srcId="{876A509C-395D-4BA1-B40D-1F65BD762220}" destId="{671CA9DC-5604-4C0C-B0AC-F4AAA62EED94}" srcOrd="1" destOrd="0" presId="urn:microsoft.com/office/officeart/2024/3/layout/hArchList1"/>
    <dgm:cxn modelId="{CA78A888-BA65-467E-BC2C-E3E3FEB0B306}" type="presParOf" srcId="{61E738F9-0641-4F35-94FA-FB759D8641FA}" destId="{153DB470-7D84-4342-97B7-375B168FA77D}" srcOrd="1" destOrd="0" presId="urn:microsoft.com/office/officeart/2024/3/layout/hArchList1"/>
    <dgm:cxn modelId="{709EC863-C880-4B5C-B9AA-BBF637D9681B}" type="presParOf" srcId="{61E738F9-0641-4F35-94FA-FB759D8641FA}" destId="{36A2D6EC-9431-4ECD-903E-9524623C2D1E}" srcOrd="2" destOrd="0" presId="urn:microsoft.com/office/officeart/2024/3/layout/hArchList1"/>
    <dgm:cxn modelId="{F8264F8F-1C6B-4FEF-87A5-077554AC9EFA}" type="presParOf" srcId="{36A2D6EC-9431-4ECD-903E-9524623C2D1E}" destId="{7FB2F229-D92F-47FC-9FE7-A77200AD24DC}" srcOrd="0" destOrd="0" presId="urn:microsoft.com/office/officeart/2024/3/layout/hArchList1"/>
    <dgm:cxn modelId="{28C08E97-7199-43E2-8AD2-32E7CE2139B0}" type="presParOf" srcId="{36A2D6EC-9431-4ECD-903E-9524623C2D1E}" destId="{456D290A-1AF7-4049-A38B-25554D009D92}" srcOrd="1" destOrd="0" presId="urn:microsoft.com/office/officeart/2024/3/layout/hArchList1"/>
    <dgm:cxn modelId="{FF3C9234-6D04-4000-B221-9092D5381B55}" type="presParOf" srcId="{61E738F9-0641-4F35-94FA-FB759D8641FA}" destId="{E56CD81D-D117-4B88-A284-AEA4784F0CC9}" srcOrd="3" destOrd="0" presId="urn:microsoft.com/office/officeart/2024/3/layout/hArchList1"/>
    <dgm:cxn modelId="{6EE4E90C-CD28-494C-A926-E9D9EB47FF4D}" type="presParOf" srcId="{61E738F9-0641-4F35-94FA-FB759D8641FA}" destId="{80A146F8-C867-449C-AAA0-25C7F6DBB9B7}" srcOrd="4" destOrd="0" presId="urn:microsoft.com/office/officeart/2024/3/layout/hArchList1"/>
    <dgm:cxn modelId="{3B52CF7A-BF3A-4B3F-AB05-0B96CBF6F369}" type="presParOf" srcId="{80A146F8-C867-449C-AAA0-25C7F6DBB9B7}" destId="{2F12C97E-A598-4EEB-8DC4-1F0819DDF54E}" srcOrd="0" destOrd="0" presId="urn:microsoft.com/office/officeart/2024/3/layout/hArchList1"/>
    <dgm:cxn modelId="{7F5D5A4F-1D05-4F71-A119-609718B895D9}" type="presParOf" srcId="{80A146F8-C867-449C-AAA0-25C7F6DBB9B7}" destId="{5F42C5EF-EC30-429A-84D9-49E8A31D40F1}" srcOrd="1" destOrd="0" presId="urn:microsoft.com/office/officeart/2024/3/layout/hArchList1"/>
    <dgm:cxn modelId="{1AEED568-4606-4BA9-A362-5FAE337552C0}" type="presParOf" srcId="{61E738F9-0641-4F35-94FA-FB759D8641FA}" destId="{85B389C9-2886-47D2-B0E5-BED4A3E6B90F}" srcOrd="5" destOrd="0" presId="urn:microsoft.com/office/officeart/2024/3/layout/hArchList1"/>
    <dgm:cxn modelId="{B97D61A4-C49B-43A1-9A3B-38A79043034E}" type="presParOf" srcId="{61E738F9-0641-4F35-94FA-FB759D8641FA}" destId="{5DF90CF1-3139-46D7-9E54-653B13F01ADD}" srcOrd="6" destOrd="0" presId="urn:microsoft.com/office/officeart/2024/3/layout/hArchList1"/>
    <dgm:cxn modelId="{F52315E4-865A-4293-A76F-457FC887EBE7}" type="presParOf" srcId="{5DF90CF1-3139-46D7-9E54-653B13F01ADD}" destId="{025D7A0F-3BAF-4FAC-9A3C-6DAB37DAB690}" srcOrd="0" destOrd="0" presId="urn:microsoft.com/office/officeart/2024/3/layout/hArchList1"/>
    <dgm:cxn modelId="{71A58070-182C-4AB2-8742-F276C4366FFA}" type="presParOf" srcId="{5DF90CF1-3139-46D7-9E54-653B13F01ADD}" destId="{2A85F4E8-D3DC-4F70-AEFF-95B15B3A2CA5}"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B350B-3BFF-45E2-A214-5087E78F577F}">
      <dsp:nvSpPr>
        <dsp:cNvPr id="0" name=""/>
        <dsp:cNvSpPr/>
      </dsp:nvSpPr>
      <dsp:spPr>
        <a:xfrm>
          <a:off x="0" y="0"/>
          <a:ext cx="1911933" cy="732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9050" rIns="19050" bIns="19050" numCol="1" spcCol="1270" anchor="t" anchorCtr="0">
          <a:noAutofit/>
        </a:bodyPr>
        <a:lstStyle/>
        <a:p>
          <a:pPr marL="0" lvl="0" indent="0" algn="l" defTabSz="666750">
            <a:lnSpc>
              <a:spcPct val="100000"/>
            </a:lnSpc>
            <a:spcBef>
              <a:spcPct val="0"/>
            </a:spcBef>
            <a:spcAft>
              <a:spcPct val="35000"/>
            </a:spcAft>
            <a:buNone/>
            <a:defRPr b="1"/>
          </a:pPr>
          <a:r>
            <a:rPr lang="en-US" sz="1500" kern="1200"/>
            <a:t>Pioneering Industry Leadership</a:t>
          </a:r>
        </a:p>
      </dsp:txBody>
      <dsp:txXfrm>
        <a:off x="0" y="0"/>
        <a:ext cx="1911933" cy="732192"/>
      </dsp:txXfrm>
    </dsp:sp>
    <dsp:sp modelId="{671CA9DC-5604-4C0C-B0AC-F4AAA62EED94}">
      <dsp:nvSpPr>
        <dsp:cNvPr id="0" name=""/>
        <dsp:cNvSpPr/>
      </dsp:nvSpPr>
      <dsp:spPr>
        <a:xfrm>
          <a:off x="0" y="732192"/>
          <a:ext cx="1911933" cy="166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Crown Precision Mold &amp; Machine leads the tire mold industry through expert vision and innovative practices.</a:t>
          </a:r>
        </a:p>
      </dsp:txBody>
      <dsp:txXfrm>
        <a:off x="0" y="732192"/>
        <a:ext cx="1911933" cy="1669938"/>
      </dsp:txXfrm>
    </dsp:sp>
    <dsp:sp modelId="{7FB2F229-D92F-47FC-9FE7-A77200AD24DC}">
      <dsp:nvSpPr>
        <dsp:cNvPr id="0" name=""/>
        <dsp:cNvSpPr/>
      </dsp:nvSpPr>
      <dsp:spPr>
        <a:xfrm>
          <a:off x="2103127" y="0"/>
          <a:ext cx="1911933" cy="732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9050" rIns="19050" bIns="19050" numCol="1" spcCol="1270" anchor="t" anchorCtr="0">
          <a:noAutofit/>
        </a:bodyPr>
        <a:lstStyle/>
        <a:p>
          <a:pPr marL="0" lvl="0" indent="0" algn="l" defTabSz="666750">
            <a:lnSpc>
              <a:spcPct val="100000"/>
            </a:lnSpc>
            <a:spcBef>
              <a:spcPct val="0"/>
            </a:spcBef>
            <a:spcAft>
              <a:spcPct val="35000"/>
            </a:spcAft>
            <a:buNone/>
            <a:defRPr b="1"/>
          </a:pPr>
          <a:r>
            <a:rPr lang="en-US" sz="1500" kern="1200"/>
            <a:t>Strategic Global Partnerships</a:t>
          </a:r>
        </a:p>
      </dsp:txBody>
      <dsp:txXfrm>
        <a:off x="2103127" y="0"/>
        <a:ext cx="1911933" cy="732192"/>
      </dsp:txXfrm>
    </dsp:sp>
    <dsp:sp modelId="{456D290A-1AF7-4049-A38B-25554D009D92}">
      <dsp:nvSpPr>
        <dsp:cNvPr id="0" name=""/>
        <dsp:cNvSpPr/>
      </dsp:nvSpPr>
      <dsp:spPr>
        <a:xfrm>
          <a:off x="2103127" y="732192"/>
          <a:ext cx="1911933" cy="166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Strong collaborations with global leaders enhance their market reach and technological capabilities.</a:t>
          </a:r>
        </a:p>
      </dsp:txBody>
      <dsp:txXfrm>
        <a:off x="2103127" y="732192"/>
        <a:ext cx="1911933" cy="1669938"/>
      </dsp:txXfrm>
    </dsp:sp>
    <dsp:sp modelId="{2F12C97E-A598-4EEB-8DC4-1F0819DDF54E}">
      <dsp:nvSpPr>
        <dsp:cNvPr id="0" name=""/>
        <dsp:cNvSpPr/>
      </dsp:nvSpPr>
      <dsp:spPr>
        <a:xfrm>
          <a:off x="4206254" y="0"/>
          <a:ext cx="1911933" cy="732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9050" rIns="19050" bIns="19050" numCol="1" spcCol="1270" anchor="t" anchorCtr="0">
          <a:noAutofit/>
        </a:bodyPr>
        <a:lstStyle/>
        <a:p>
          <a:pPr marL="0" lvl="0" indent="0" algn="l" defTabSz="666750">
            <a:lnSpc>
              <a:spcPct val="100000"/>
            </a:lnSpc>
            <a:spcBef>
              <a:spcPct val="0"/>
            </a:spcBef>
            <a:spcAft>
              <a:spcPct val="35000"/>
            </a:spcAft>
            <a:buNone/>
            <a:defRPr b="1"/>
          </a:pPr>
          <a:r>
            <a:rPr lang="en-US" sz="1500" kern="1200"/>
            <a:t>Commitment to Quality and Cost Efficiency</a:t>
          </a:r>
        </a:p>
      </dsp:txBody>
      <dsp:txXfrm>
        <a:off x="4206254" y="0"/>
        <a:ext cx="1911933" cy="732192"/>
      </dsp:txXfrm>
    </dsp:sp>
    <dsp:sp modelId="{5F42C5EF-EC30-429A-84D9-49E8A31D40F1}">
      <dsp:nvSpPr>
        <dsp:cNvPr id="0" name=""/>
        <dsp:cNvSpPr/>
      </dsp:nvSpPr>
      <dsp:spPr>
        <a:xfrm>
          <a:off x="4206254" y="732192"/>
          <a:ext cx="1911933" cy="166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Focus on delivering high-quality mold services while maintaining cost effectiveness for customers.</a:t>
          </a:r>
        </a:p>
      </dsp:txBody>
      <dsp:txXfrm>
        <a:off x="4206254" y="732192"/>
        <a:ext cx="1911933" cy="1669938"/>
      </dsp:txXfrm>
    </dsp:sp>
    <dsp:sp modelId="{025D7A0F-3BAF-4FAC-9A3C-6DAB37DAB690}">
      <dsp:nvSpPr>
        <dsp:cNvPr id="0" name=""/>
        <dsp:cNvSpPr/>
      </dsp:nvSpPr>
      <dsp:spPr>
        <a:xfrm>
          <a:off x="6309381" y="0"/>
          <a:ext cx="1911933" cy="732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9050" rIns="19050" bIns="19050" numCol="1" spcCol="1270" anchor="t" anchorCtr="0">
          <a:noAutofit/>
        </a:bodyPr>
        <a:lstStyle/>
        <a:p>
          <a:pPr marL="0" lvl="0" indent="0" algn="l" defTabSz="666750">
            <a:lnSpc>
              <a:spcPct val="100000"/>
            </a:lnSpc>
            <a:spcBef>
              <a:spcPct val="0"/>
            </a:spcBef>
            <a:spcAft>
              <a:spcPct val="35000"/>
            </a:spcAft>
            <a:buNone/>
            <a:defRPr b="1"/>
          </a:pPr>
          <a:r>
            <a:rPr lang="en-US" sz="1500" kern="1200"/>
            <a:t>Customer-Centric Innovation</a:t>
          </a:r>
        </a:p>
      </dsp:txBody>
      <dsp:txXfrm>
        <a:off x="6309381" y="0"/>
        <a:ext cx="1911933" cy="732192"/>
      </dsp:txXfrm>
    </dsp:sp>
    <dsp:sp modelId="{2A85F4E8-D3DC-4F70-AEFF-95B15B3A2CA5}">
      <dsp:nvSpPr>
        <dsp:cNvPr id="0" name=""/>
        <dsp:cNvSpPr/>
      </dsp:nvSpPr>
      <dsp:spPr>
        <a:xfrm>
          <a:off x="6309381" y="732192"/>
          <a:ext cx="1911933" cy="16699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Innovation driven by customer needs ensures continued growth and industry excellence.</a:t>
          </a:r>
        </a:p>
      </dsp:txBody>
      <dsp:txXfrm>
        <a:off x="6309381" y="732192"/>
        <a:ext cx="1911933" cy="1669938"/>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EF94F-1B41-4470-81AE-EBDCB5E39546}"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279E6D-FECC-4583-BAD8-07B96F9FA9A1}" type="slidenum">
              <a:rPr lang="en-US" smtClean="0"/>
              <a:t>‹#›</a:t>
            </a:fld>
            <a:endParaRPr lang="en-US"/>
          </a:p>
        </p:txBody>
      </p:sp>
    </p:spTree>
    <p:extLst>
      <p:ext uri="{BB962C8B-B14F-4D97-AF65-F5344CB8AC3E}">
        <p14:creationId xmlns:p14="http://schemas.microsoft.com/office/powerpoint/2010/main" val="1427347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098EE0BA-54B1-4832-847F-6BABF249A4E6}" type="slidenum">
              <a:rPr lang="en-US" smtClean="0"/>
              <a:t>1</a:t>
            </a:fld>
            <a:endParaRPr lang="en-US"/>
          </a:p>
        </p:txBody>
      </p:sp>
    </p:spTree>
    <p:extLst>
      <p:ext uri="{BB962C8B-B14F-4D97-AF65-F5344CB8AC3E}">
        <p14:creationId xmlns:p14="http://schemas.microsoft.com/office/powerpoint/2010/main" val="3942686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Company Origins and Founding Vision
 Strategic Partnerships with Leading Tire Manufacturers
 Comprehensive Tire Mold Services
 Value Delivered: Cost Savings, Quality Improvement, and Market Competitiveness
 Commitment to Service Excellence and Innovation</a:t>
            </a:r>
          </a:p>
        </p:txBody>
      </p:sp>
      <p:sp>
        <p:nvSpPr>
          <p:cNvPr id="4" name="Slide Number Placeholder 3"/>
          <p:cNvSpPr>
            <a:spLocks noGrp="1"/>
          </p:cNvSpPr>
          <p:nvPr>
            <p:ph type="sldNum" sz="quarter" idx="5"/>
          </p:nvPr>
        </p:nvSpPr>
        <p:spPr/>
        <p:txBody>
          <a:bodyPr/>
          <a:lstStyle/>
          <a:p>
            <a:fld id="{098EE0BA-54B1-4832-847F-6BABF249A4E6}" type="slidenum">
              <a:rPr lang="en-US" smtClean="0"/>
              <a:t>2</a:t>
            </a:fld>
            <a:endParaRPr lang="en-US"/>
          </a:p>
        </p:txBody>
      </p:sp>
    </p:spTree>
    <p:extLst>
      <p:ext uri="{BB962C8B-B14F-4D97-AF65-F5344CB8AC3E}">
        <p14:creationId xmlns:p14="http://schemas.microsoft.com/office/powerpoint/2010/main" val="3269171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Establishment in 2026 by Industry Veterans, Founders’ Expertise and Experience, Mission and Values Driving the Company</a:t>
            </a:r>
          </a:p>
        </p:txBody>
      </p:sp>
      <p:sp>
        <p:nvSpPr>
          <p:cNvPr id="4" name="Slide Number Placeholder 3"/>
          <p:cNvSpPr>
            <a:spLocks noGrp="1"/>
          </p:cNvSpPr>
          <p:nvPr>
            <p:ph type="sldNum" sz="quarter" idx="5"/>
          </p:nvPr>
        </p:nvSpPr>
        <p:spPr/>
        <p:txBody>
          <a:bodyPr/>
          <a:lstStyle/>
          <a:p>
            <a:fld id="{098EE0BA-54B1-4832-847F-6BABF249A4E6}" type="slidenum">
              <a:rPr lang="en-US" smtClean="0"/>
              <a:t>3</a:t>
            </a:fld>
            <a:endParaRPr lang="en-US"/>
          </a:p>
        </p:txBody>
      </p:sp>
    </p:spTree>
    <p:extLst>
      <p:ext uri="{BB962C8B-B14F-4D97-AF65-F5344CB8AC3E}">
        <p14:creationId xmlns:p14="http://schemas.microsoft.com/office/powerpoint/2010/main" val="3333182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Crown Precision Mold &amp; Machine was founded in 2026 by a group of seasoned professionals with over 100 combined years in tire mold manufacturing and machine operation. This foundation rooted the company in decades of expertise, allowing it to quickly become a reliable partner in a highly competitive market often dominated by legacy firms.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4</a:t>
            </a:fld>
            <a:endParaRPr lang="en-US"/>
          </a:p>
        </p:txBody>
      </p:sp>
    </p:spTree>
    <p:extLst>
      <p:ext uri="{BB962C8B-B14F-4D97-AF65-F5344CB8AC3E}">
        <p14:creationId xmlns:p14="http://schemas.microsoft.com/office/powerpoint/2010/main" val="3709422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founders collectively bring experience in precision mold design, innovative machining techniques, and extensive knowledge of tire production processes. Their prior leadership roles in top-tier tire mold manufacturers enabled them to identify market gaps and innovate processes that reduce downtime and improve mold longevity.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5</a:t>
            </a:fld>
            <a:endParaRPr lang="en-US"/>
          </a:p>
        </p:txBody>
      </p:sp>
    </p:spTree>
    <p:extLst>
      <p:ext uri="{BB962C8B-B14F-4D97-AF65-F5344CB8AC3E}">
        <p14:creationId xmlns:p14="http://schemas.microsoft.com/office/powerpoint/2010/main" val="102447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Crown Precision's mission centers on delivering unparalleled mold quality and service reliability while fostering sustainable manufacturing practices. Their core values emphasize innovation, customer collaboration, environmental responsibility, and continuous improvement—all essential for building trust and long-term partnerships in global tire production markets.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6</a:t>
            </a:fld>
            <a:endParaRPr lang="en-US"/>
          </a:p>
        </p:txBody>
      </p:sp>
    </p:spTree>
    <p:extLst>
      <p:ext uri="{BB962C8B-B14F-4D97-AF65-F5344CB8AC3E}">
        <p14:creationId xmlns:p14="http://schemas.microsoft.com/office/powerpoint/2010/main" val="619790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Collaborations with Major Brands Like Goodyear, Bridgestone Firestone, and Continental Tire, Supporting a Global Client Base Including Pirelli, Yokohama, Toyo Tires, JK Tornel, and More, Impact of Partnerships on the Tire Industry</a:t>
            </a:r>
          </a:p>
        </p:txBody>
      </p:sp>
      <p:sp>
        <p:nvSpPr>
          <p:cNvPr id="4" name="Slide Number Placeholder 3"/>
          <p:cNvSpPr>
            <a:spLocks noGrp="1"/>
          </p:cNvSpPr>
          <p:nvPr>
            <p:ph type="sldNum" sz="quarter" idx="5"/>
          </p:nvPr>
        </p:nvSpPr>
        <p:spPr/>
        <p:txBody>
          <a:bodyPr/>
          <a:lstStyle/>
          <a:p>
            <a:fld id="{098EE0BA-54B1-4832-847F-6BABF249A4E6}" type="slidenum">
              <a:rPr lang="en-US" smtClean="0"/>
              <a:t>7</a:t>
            </a:fld>
            <a:endParaRPr lang="en-US"/>
          </a:p>
        </p:txBody>
      </p:sp>
    </p:spTree>
    <p:extLst>
      <p:ext uri="{BB962C8B-B14F-4D97-AF65-F5344CB8AC3E}">
        <p14:creationId xmlns:p14="http://schemas.microsoft.com/office/powerpoint/2010/main" val="2091694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From inception, Crown Precision secured partnerships with industry giants such as Goodyear, Bridgestone Firestone, and Continental Tire. These collaborations involve co-development of customized molds and rapid-response service agreements, contributing to improved tire quality and reduced production lead times for partners.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8</a:t>
            </a:fld>
            <a:endParaRPr lang="en-US"/>
          </a:p>
        </p:txBody>
      </p:sp>
    </p:spTree>
    <p:extLst>
      <p:ext uri="{BB962C8B-B14F-4D97-AF65-F5344CB8AC3E}">
        <p14:creationId xmlns:p14="http://schemas.microsoft.com/office/powerpoint/2010/main" val="2801564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Crown Precision services a diverse, global client base spanning five continents, including premium and mid-tier manufacturers like Pirelli, Yokohama, Toyo Tires, and JK Tornel. This global reach confirms their capability in handling varying standards and customized requirements across different markets, reinforcing their scalability and adaptability.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9</a:t>
            </a:fld>
            <a:endParaRPr lang="en-US"/>
          </a:p>
        </p:txBody>
      </p:sp>
    </p:spTree>
    <p:extLst>
      <p:ext uri="{BB962C8B-B14F-4D97-AF65-F5344CB8AC3E}">
        <p14:creationId xmlns:p14="http://schemas.microsoft.com/office/powerpoint/2010/main" val="2176895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These strategic alliances have accelerated the adoption of advanced mold refurbishment techniques industry-wide, leading to an average 15% increase in mold lifespan and a 10% decrease in tire production defects. Crown Precision’s collaborative approach serves as a case study for integrating specialized suppliers into the tire manufacturing value chain.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10</a:t>
            </a:fld>
            <a:endParaRPr lang="en-US"/>
          </a:p>
        </p:txBody>
      </p:sp>
    </p:spTree>
    <p:extLst>
      <p:ext uri="{BB962C8B-B14F-4D97-AF65-F5344CB8AC3E}">
        <p14:creationId xmlns:p14="http://schemas.microsoft.com/office/powerpoint/2010/main" val="1924865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Refurbishment, Repair, and Modification Processes, Cleaning, Certification, and Quality Assurance, Ensuring Optimal Mold Readiness and Performance</a:t>
            </a:r>
          </a:p>
        </p:txBody>
      </p:sp>
      <p:sp>
        <p:nvSpPr>
          <p:cNvPr id="4" name="Slide Number Placeholder 3"/>
          <p:cNvSpPr>
            <a:spLocks noGrp="1"/>
          </p:cNvSpPr>
          <p:nvPr>
            <p:ph type="sldNum" sz="quarter" idx="5"/>
          </p:nvPr>
        </p:nvSpPr>
        <p:spPr/>
        <p:txBody>
          <a:bodyPr/>
          <a:lstStyle/>
          <a:p>
            <a:fld id="{098EE0BA-54B1-4832-847F-6BABF249A4E6}" type="slidenum">
              <a:rPr lang="en-US" smtClean="0"/>
              <a:t>11</a:t>
            </a:fld>
            <a:endParaRPr lang="en-US"/>
          </a:p>
        </p:txBody>
      </p:sp>
    </p:spTree>
    <p:extLst>
      <p:ext uri="{BB962C8B-B14F-4D97-AF65-F5344CB8AC3E}">
        <p14:creationId xmlns:p14="http://schemas.microsoft.com/office/powerpoint/2010/main" val="893337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Crown Precision specializes in extending mold operational life through advanced refurbishment involving CNC machining, laser welding, and precision grinding. Their repair processes minimize mold downtime, and modification services enable adaptation to new tire designs without full replacement, achieving cost reductions up to 30% compared to new molds.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12</a:t>
            </a:fld>
            <a:endParaRPr lang="en-US"/>
          </a:p>
        </p:txBody>
      </p:sp>
    </p:spTree>
    <p:extLst>
      <p:ext uri="{BB962C8B-B14F-4D97-AF65-F5344CB8AC3E}">
        <p14:creationId xmlns:p14="http://schemas.microsoft.com/office/powerpoint/2010/main" val="3037780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company employs state-of-the-art ultrasonic cleaning and environmentally safe solvents to ensure molds are contaminant-free before certification. Strict quality assurance protocols meet ISO 9001 standards, with traceability and documentation ensuring consistent mold performance and regulatory compliance.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13</a:t>
            </a:fld>
            <a:endParaRPr lang="en-US"/>
          </a:p>
        </p:txBody>
      </p:sp>
    </p:spTree>
    <p:extLst>
      <p:ext uri="{BB962C8B-B14F-4D97-AF65-F5344CB8AC3E}">
        <p14:creationId xmlns:p14="http://schemas.microsoft.com/office/powerpoint/2010/main" val="4142362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Through routine inspections using 3D scanning and nondestructive testing, Crown Precision guarantees molds are optimized for tire production cycles. Their proactive maintenance schedules and performance analytics reduce unexpected failures, thereby increasing mold uptime and contributing to higher production yields.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14</a:t>
            </a:fld>
            <a:endParaRPr lang="en-US"/>
          </a:p>
        </p:txBody>
      </p:sp>
    </p:spTree>
    <p:extLst>
      <p:ext uri="{BB962C8B-B14F-4D97-AF65-F5344CB8AC3E}">
        <p14:creationId xmlns:p14="http://schemas.microsoft.com/office/powerpoint/2010/main" val="2349314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Driving Cost Efficiency for Partners, Enhancing Tire Production Quality and Consistency, Increasing Overall Competitiveness in the Market</a:t>
            </a:r>
          </a:p>
        </p:txBody>
      </p:sp>
      <p:sp>
        <p:nvSpPr>
          <p:cNvPr id="4" name="Slide Number Placeholder 3"/>
          <p:cNvSpPr>
            <a:spLocks noGrp="1"/>
          </p:cNvSpPr>
          <p:nvPr>
            <p:ph type="sldNum" sz="quarter" idx="5"/>
          </p:nvPr>
        </p:nvSpPr>
        <p:spPr/>
        <p:txBody>
          <a:bodyPr/>
          <a:lstStyle/>
          <a:p>
            <a:fld id="{098EE0BA-54B1-4832-847F-6BABF249A4E6}" type="slidenum">
              <a:rPr lang="en-US" smtClean="0"/>
              <a:t>15</a:t>
            </a:fld>
            <a:endParaRPr lang="en-US"/>
          </a:p>
        </p:txBody>
      </p:sp>
    </p:spTree>
    <p:extLst>
      <p:ext uri="{BB962C8B-B14F-4D97-AF65-F5344CB8AC3E}">
        <p14:creationId xmlns:p14="http://schemas.microsoft.com/office/powerpoint/2010/main" val="6901216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By implementing precision refurbishment and minimizing full mold replacements, Crown Precision's customers have realized average savings of 25-35% in mold-related CAPEX. Additionally, process optimizations reduce production downtime and scrap rates, enhancing operational efficiency significantly.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16</a:t>
            </a:fld>
            <a:endParaRPr lang="en-US"/>
          </a:p>
        </p:txBody>
      </p:sp>
    </p:spTree>
    <p:extLst>
      <p:ext uri="{BB962C8B-B14F-4D97-AF65-F5344CB8AC3E}">
        <p14:creationId xmlns:p14="http://schemas.microsoft.com/office/powerpoint/2010/main" val="404160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Enhanced mold quality directly translates into tire uniformity and reliability; clients report up to a 20% decrease in quality defects after integrating Crown Precision’s molds and services. This improvement boosts brand reputation and consumer confidence in end products.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17</a:t>
            </a:fld>
            <a:endParaRPr lang="en-US"/>
          </a:p>
        </p:txBody>
      </p:sp>
    </p:spTree>
    <p:extLst>
      <p:ext uri="{BB962C8B-B14F-4D97-AF65-F5344CB8AC3E}">
        <p14:creationId xmlns:p14="http://schemas.microsoft.com/office/powerpoint/2010/main" val="2777838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By lowering production costs and improving tire quality, Crown Precision's partners gain a competitive edge in pricing and product differentiation. This dual advantage facilitates market expansion and increased market share in key segments globally.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18</a:t>
            </a:fld>
            <a:endParaRPr lang="en-US"/>
          </a:p>
        </p:txBody>
      </p:sp>
    </p:spTree>
    <p:extLst>
      <p:ext uri="{BB962C8B-B14F-4D97-AF65-F5344CB8AC3E}">
        <p14:creationId xmlns:p14="http://schemas.microsoft.com/office/powerpoint/2010/main" val="2250346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Long-Term Partnership Approach and Customer Support, Leveraging Lean Operations and Advanced Technology, Future Outlook: Adapting to Evolving Industry Needs</a:t>
            </a:r>
          </a:p>
        </p:txBody>
      </p:sp>
      <p:sp>
        <p:nvSpPr>
          <p:cNvPr id="4" name="Slide Number Placeholder 3"/>
          <p:cNvSpPr>
            <a:spLocks noGrp="1"/>
          </p:cNvSpPr>
          <p:nvPr>
            <p:ph type="sldNum" sz="quarter" idx="5"/>
          </p:nvPr>
        </p:nvSpPr>
        <p:spPr/>
        <p:txBody>
          <a:bodyPr/>
          <a:lstStyle/>
          <a:p>
            <a:fld id="{098EE0BA-54B1-4832-847F-6BABF249A4E6}" type="slidenum">
              <a:rPr lang="en-US" smtClean="0"/>
              <a:t>19</a:t>
            </a:fld>
            <a:endParaRPr lang="en-US"/>
          </a:p>
        </p:txBody>
      </p:sp>
    </p:spTree>
    <p:extLst>
      <p:ext uri="{BB962C8B-B14F-4D97-AF65-F5344CB8AC3E}">
        <p14:creationId xmlns:p14="http://schemas.microsoft.com/office/powerpoint/2010/main" val="4211123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Crown Precision invests in building long-term relationships through dedicated account management, 24/7 technical support, and tailored service agreements. Customers benefit from continuous improvement programs and rapid issue resolution, contributing to sustained operational success.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20</a:t>
            </a:fld>
            <a:endParaRPr lang="en-US"/>
          </a:p>
        </p:txBody>
      </p:sp>
    </p:spTree>
    <p:extLst>
      <p:ext uri="{BB962C8B-B14F-4D97-AF65-F5344CB8AC3E}">
        <p14:creationId xmlns:p14="http://schemas.microsoft.com/office/powerpoint/2010/main" val="33208538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company integrates lean manufacturing principles and automation technologies such as robotic machining arms and AI-driven defect detection to optimize workflows and reduce waste. These innovations support faster turnaround times and higher quality outputs.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21</a:t>
            </a:fld>
            <a:endParaRPr lang="en-US"/>
          </a:p>
        </p:txBody>
      </p:sp>
    </p:spTree>
    <p:extLst>
      <p:ext uri="{BB962C8B-B14F-4D97-AF65-F5344CB8AC3E}">
        <p14:creationId xmlns:p14="http://schemas.microsoft.com/office/powerpoint/2010/main" val="11919762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Anticipating trends such as increased demand for electric vehicle tires and sustainable materials, Crown Precision is investing in R&amp;D for eco-friendly molds and smart manufacturing capabilities. This forward-looking strategy positions them to meet emerging customer needs and regulatory requirements.
Image source: AI-generated
</a:t>
            </a:r>
          </a:p>
        </p:txBody>
      </p:sp>
      <p:sp>
        <p:nvSpPr>
          <p:cNvPr id="4" name="Slide Number Placeholder 3"/>
          <p:cNvSpPr>
            <a:spLocks noGrp="1"/>
          </p:cNvSpPr>
          <p:nvPr>
            <p:ph type="sldNum" sz="quarter" idx="5"/>
          </p:nvPr>
        </p:nvSpPr>
        <p:spPr/>
        <p:txBody>
          <a:bodyPr/>
          <a:lstStyle/>
          <a:p>
            <a:fld id="{098EE0BA-54B1-4832-847F-6BABF249A4E6}" type="slidenum">
              <a:rPr lang="en-US" smtClean="0"/>
              <a:t>22</a:t>
            </a:fld>
            <a:endParaRPr lang="en-US"/>
          </a:p>
        </p:txBody>
      </p:sp>
    </p:spTree>
    <p:extLst>
      <p:ext uri="{BB962C8B-B14F-4D97-AF65-F5344CB8AC3E}">
        <p14:creationId xmlns:p14="http://schemas.microsoft.com/office/powerpoint/2010/main" val="33725826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summary, Crown Precision Mold &amp; Machine has established itself as a pioneering force in the tire mold industry by leveraging expert founding vision, strategic partnerships with global leaders, comprehensive mold services, and a strong commitment to cost efficiency and quality. Their focus on innovation and customer-centric service positions them well for continued growth and industry leadership.</a:t>
            </a:r>
          </a:p>
        </p:txBody>
      </p:sp>
      <p:sp>
        <p:nvSpPr>
          <p:cNvPr id="4" name="Slide Number Placeholder 3"/>
          <p:cNvSpPr>
            <a:spLocks noGrp="1"/>
          </p:cNvSpPr>
          <p:nvPr>
            <p:ph type="sldNum" sz="quarter" idx="5"/>
          </p:nvPr>
        </p:nvSpPr>
        <p:spPr/>
        <p:txBody>
          <a:bodyPr/>
          <a:lstStyle/>
          <a:p>
            <a:fld id="{098EE0BA-54B1-4832-847F-6BABF249A4E6}" type="slidenum">
              <a:rPr lang="en-US" smtClean="0"/>
              <a:t>23</a:t>
            </a:fld>
            <a:endParaRPr lang="en-US"/>
          </a:p>
        </p:txBody>
      </p:sp>
    </p:spTree>
    <p:extLst>
      <p:ext uri="{BB962C8B-B14F-4D97-AF65-F5344CB8AC3E}">
        <p14:creationId xmlns:p14="http://schemas.microsoft.com/office/powerpoint/2010/main" val="12796800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dirty="0"/>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3/2/2026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419784338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1">
              <a:rPr lang="en-US" smtClean="0"/>
              <a:t>3/2/2026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257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a:lstStyle>
            <a:lvl1pPr>
              <a:defRPr/>
            </a:lvl1pPr>
          </a:lstStyle>
          <a:p>
            <a:r>
              <a:rPr lang="en-US" dirty="0"/>
              <a:t>   </a:t>
            </a:r>
          </a:p>
        </p:txBody>
      </p:sp>
      <p:sp>
        <p:nvSpPr>
          <p:cNvPr id="5" name="Title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a:lstStyle>
            <a:lvl1pPr>
              <a:defRPr sz="5000"/>
            </a:lvl1pPr>
          </a:lstStyle>
          <a:p>
            <a:r>
              <a:rPr lang="en-US" dirty="0"/>
              <a:t>Click to edit Master title style</a:t>
            </a:r>
          </a:p>
        </p:txBody>
      </p:sp>
      <p:sp>
        <p:nvSpPr>
          <p:cNvPr id="14" name="Subtitle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a:r>
              <a:rPr lang="en-US" dirty="0"/>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a:lstStyle/>
          <a:p>
            <a:fld id="{21560963-1EEA-4BDE-8FF9-3FEE13B5D43C}" type="datetime1">
              <a:rPr lang="en-US" smtClean="0"/>
              <a:t>3/2/2026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409246106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dirty="0"/>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3/2/2026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427580352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anchor="t">
            <a:normAutofit/>
          </a:bodyPr>
          <a:lstStyle>
            <a:lvl1pPr>
              <a:defRPr sz="3600"/>
            </a:lvl1pPr>
          </a:lstStyle>
          <a:p>
            <a:r>
              <a:rPr lang="en-US" dirty="0"/>
              <a:t>Click to edit Master title style</a:t>
            </a:r>
          </a:p>
        </p:txBody>
      </p:sp>
      <p:sp>
        <p:nvSpPr>
          <p:cNvPr id="10" name="Subtitle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a:lstStyle/>
          <a:p>
            <a:r>
              <a:rPr lang="en-US"/>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a:lstStyle/>
          <a:p>
            <a:fld id="{BCA7961A-B010-49E0-A3F6-1ED7ACF29013}" type="datetime1">
              <a:rPr lang="en-US" smtClean="0"/>
              <a:t>3/2/2026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2460025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itle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a:lstStyle/>
          <a:p>
            <a:r>
              <a:rPr lang="en-US"/>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a:lstStyle/>
          <a:p>
            <a:fld id="{9458DF63-6CB9-404F-8464-DF813E7A7B12}" type="datetime1">
              <a:rPr lang="en-US" smtClean="0"/>
              <a:t>3/2/2026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a:lstStyle>
            <a:lvl1pPr>
              <a:defRPr/>
            </a:lvl1pPr>
          </a:lstStyle>
          <a:p>
            <a:r>
              <a:rPr lang="en-US" dirty="0"/>
              <a:t>   </a:t>
            </a:r>
          </a:p>
        </p:txBody>
      </p:sp>
      <p:cxnSp>
        <p:nvCxnSpPr>
          <p:cNvPr id="7" name="Straight Connector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1685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a:normAutofit/>
          </a:bodyPr>
          <a:lstStyle>
            <a:lvl1pPr>
              <a:defRPr sz="3600"/>
            </a:lvl1pPr>
          </a:lstStyle>
          <a:p>
            <a:r>
              <a:rPr lang="en-US"/>
              <a:t>Click to edit Master title style</a:t>
            </a:r>
          </a:p>
        </p:txBody>
      </p:sp>
      <p:sp>
        <p:nvSpPr>
          <p:cNvPr id="12" name="Subtitle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a:lstStyle/>
          <a:p>
            <a:fld id="{21560963-1EEA-4BDE-8FF9-3FEE13B5D43C}" type="datetime1">
              <a:rPr lang="en-US" smtClean="0"/>
              <a:t>3/2/2026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193909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cxnSp>
        <p:nvCxnSpPr>
          <p:cNvPr id="14" name="Straight Connector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anchor="t"/>
          <a:lstStyle>
            <a:lvl1pPr>
              <a:defRPr sz="6000"/>
            </a:lvl1pPr>
          </a:lstStyle>
          <a:p>
            <a:r>
              <a:rPr lang="en-US"/>
              <a:t>Click to edit Master title style</a:t>
            </a:r>
          </a:p>
        </p:txBody>
      </p:sp>
      <p:sp>
        <p:nvSpPr>
          <p:cNvPr id="17" name="Subtitle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a:lstStyle>
            <a:lvl1pPr>
              <a:defRPr>
                <a:solidFill>
                  <a:schemeClr val="tx1"/>
                </a:solidFill>
              </a:defRPr>
            </a:lvl1pPr>
          </a:lstStyle>
          <a:p>
            <a:fld id="{082FB242-E4A2-4711-B168-6D02C45DBE61}" type="datetime1">
              <a:rPr lang="en-US" smtClean="0"/>
              <a:t>3/2/2026</a:t>
            </a:fld>
            <a:endParaRPr lang="en-US"/>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8742949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1">
              <a:rPr lang="en-US" smtClean="0"/>
              <a:t>3/2/2026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43562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Neue Haas Grotesk Text Pro"/>
              <a:ea typeface="+mn-ea"/>
              <a:cs typeface="+mn-cs"/>
            </a:endParaRPr>
          </a:p>
        </p:txBody>
      </p:sp>
      <p:sp>
        <p:nvSpPr>
          <p:cNvPr id="5" name="Rectangle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itle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anchor="t"/>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7" name="Date Placeholder 6">
            <a:extLst>
              <a:ext uri="{FF2B5EF4-FFF2-40B4-BE49-F238E27FC236}">
                <a16:creationId xmlns:a16="http://schemas.microsoft.com/office/drawing/2014/main" id="{5EAFA23F-C567-5858-AF7D-C37EC8657A25}"/>
              </a:ext>
            </a:extLst>
          </p:cNvPr>
          <p:cNvSpPr>
            <a:spLocks noGrp="1"/>
          </p:cNvSpPr>
          <p:nvPr>
            <p:ph type="dt" sz="half" idx="10"/>
          </p:nvPr>
        </p:nvSpPr>
        <p:spPr/>
        <p:txBody>
          <a:bodyPr/>
          <a:lstStyle/>
          <a:p>
            <a:fld id="{7DA2CEDE-2AB4-4FB8-9551-E0AA4222B1A3}" type="datetime1">
              <a:rPr lang="en-US" smtClean="0"/>
              <a:t>3/2/2026</a:t>
            </a:fld>
            <a:endParaRPr lang="en-US"/>
          </a:p>
        </p:txBody>
      </p:sp>
      <p:sp>
        <p:nvSpPr>
          <p:cNvPr id="8" name="Footer Placeholder 7">
            <a:extLst>
              <a:ext uri="{FF2B5EF4-FFF2-40B4-BE49-F238E27FC236}">
                <a16:creationId xmlns:a16="http://schemas.microsoft.com/office/drawing/2014/main" id="{8EFB4A31-4D88-6836-9F3A-5E23FC9DE7F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a:lstStyle/>
          <a:p>
            <a:fld id="{5E0677F5-4A8A-4BF1-96BE-3BAE8FBAFE2E}" type="slidenum">
              <a:rPr lang="en-US" smtClean="0"/>
              <a:pPr/>
              <a:t>‹#›</a:t>
            </a:fld>
            <a:endParaRPr lang="en-US"/>
          </a:p>
        </p:txBody>
      </p:sp>
      <p:cxnSp>
        <p:nvCxnSpPr>
          <p:cNvPr id="6" name="Straight Connector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36566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3/2/2026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7259217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anchor="b">
            <a:normAutofit/>
          </a:bodyPr>
          <a:lstStyle>
            <a:lvl1pPr>
              <a:defRPr sz="72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BFF27D51-28B8-B2E3-D66E-632D6F01E601}"/>
              </a:ext>
            </a:extLst>
          </p:cNvPr>
          <p:cNvSpPr>
            <a:spLocks noGrp="1"/>
          </p:cNvSpPr>
          <p:nvPr>
            <p:ph type="dt" sz="half" idx="10"/>
          </p:nvPr>
        </p:nvSpPr>
        <p:spPr/>
        <p:txBody>
          <a:bodyPr/>
          <a:lstStyle/>
          <a:p>
            <a:fld id="{7DA2CEDE-2AB4-4FB8-9551-E0AA4222B1A3}" type="datetime1">
              <a:rPr lang="en-US" smtClean="0"/>
              <a:t>3/2/2026</a:t>
            </a:fld>
            <a:endParaRPr lang="en-US"/>
          </a:p>
        </p:txBody>
      </p:sp>
      <p:sp>
        <p:nvSpPr>
          <p:cNvPr id="4" name="Footer Placeholder 3">
            <a:extLst>
              <a:ext uri="{FF2B5EF4-FFF2-40B4-BE49-F238E27FC236}">
                <a16:creationId xmlns:a16="http://schemas.microsoft.com/office/drawing/2014/main" id="{411DCFE3-286D-146F-718D-4D8F709FB8DE}"/>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3885397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dirty="0"/>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3/2/2026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8189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anchor="t"/>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a:lstStyle/>
          <a:p>
            <a:fld id="{C2A0816E-BD5C-478F-AB95-6BE098266DF3}" type="datetime1">
              <a:rPr lang="en-US" smtClean="0"/>
              <a:t>3/2/2026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9866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dirty="0"/>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1">
              <a:rPr lang="en-US" smtClean="0"/>
              <a:t>3/2/2026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454600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anchor="b">
            <a:normAutofit/>
          </a:bodyPr>
          <a:lstStyle>
            <a:lvl1pPr>
              <a:defRPr sz="4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CDEAC1E-5504-4723-BE4B-1DE8B305AF62}" type="datetime1">
              <a:rPr lang="en-US" smtClean="0"/>
              <a:t>3/2/2026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0035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anchor="t">
            <a:normAutofit/>
          </a:bodyPr>
          <a:lstStyle>
            <a:lvl1pPr>
              <a:defRPr sz="2800">
                <a:solidFill>
                  <a:schemeClr val="tx1"/>
                </a:solidFill>
              </a:defRPr>
            </a:lvl1pPr>
          </a:lstStyle>
          <a:p>
            <a:r>
              <a:rPr lang="en-US"/>
              <a:t>Click to edit Master title style</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8E6582D0-CC23-4B30-B5F7-0EC0E82226EA}" type="datetime1">
              <a:rPr lang="en-US" smtClean="0"/>
              <a:t>3/2/2026</a:t>
            </a:fld>
            <a:endParaRPr lang="en-US"/>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r>
              <a:rPr lang="en-US"/>
              <a:t>Sample Footer Text</a:t>
            </a:r>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84130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1">
              <a:rPr lang="en-US" smtClean="0"/>
              <a:t>3/2/2026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17255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anchor="b">
            <a:norm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73F7B4F8-3C61-0936-7251-8633EE5F2C1B}"/>
              </a:ext>
            </a:extLst>
          </p:cNvPr>
          <p:cNvSpPr>
            <a:spLocks noGrp="1"/>
          </p:cNvSpPr>
          <p:nvPr>
            <p:ph type="dt" sz="half" idx="14"/>
          </p:nvPr>
        </p:nvSpPr>
        <p:spPr/>
        <p:txBody>
          <a:bodyPr/>
          <a:lstStyle/>
          <a:p>
            <a:fld id="{7DA2CEDE-2AB4-4FB8-9551-E0AA4222B1A3}" type="datetime1">
              <a:rPr lang="en-US" smtClean="0"/>
              <a:t>3/2/2026</a:t>
            </a:fld>
            <a:endParaRPr lang="en-US"/>
          </a:p>
        </p:txBody>
      </p:sp>
      <p:sp>
        <p:nvSpPr>
          <p:cNvPr id="5" name="Footer Placeholder 4">
            <a:extLst>
              <a:ext uri="{FF2B5EF4-FFF2-40B4-BE49-F238E27FC236}">
                <a16:creationId xmlns:a16="http://schemas.microsoft.com/office/drawing/2014/main" id="{26DA624A-E1F8-4C9A-205B-0A6EA83A187B}"/>
              </a:ext>
            </a:extLst>
          </p:cNvPr>
          <p:cNvSpPr>
            <a:spLocks noGrp="1"/>
          </p:cNvSpPr>
          <p:nvPr>
            <p:ph type="ftr" sz="quarter" idx="15"/>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886582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1">
              <a:rPr lang="en-US" smtClean="0"/>
              <a:t>3/2/2026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3885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3/2/2026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80244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7DA9862-2C49-41B4-AD0B-6F93BC6DDDF8}" type="datetime1">
              <a:rPr lang="en-US" smtClean="0"/>
              <a:t>3/2/2026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31416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3/2/2026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10808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1">
              <a:rPr lang="en-US" smtClean="0"/>
              <a:t>3/2/2026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41328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a:lstStyle/>
          <a:p>
            <a:fld id="{52D95AE2-CFB9-4B68-957C-4721356B27A9}" type="datetime1">
              <a:rPr lang="en-US" smtClean="0"/>
              <a:t>3/2/2026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0211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3/2/2026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47957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1">
              <a:rPr lang="en-US" smtClean="0"/>
              <a:t>3/2/2026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2648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a:lstStyle/>
          <a:p>
            <a:fld id="{2BDF39F2-6977-4B14-98E3-4DFE82804B0D}" type="datetime1">
              <a:rPr lang="en-US" smtClean="0"/>
              <a:t>3/2/2026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83745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1">
              <a:rPr lang="en-US" smtClean="0"/>
              <a:t>3/2/2026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35431205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3/2/2026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66688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3/2/2026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23100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1">
              <a:rPr lang="en-US" smtClean="0"/>
              <a:t>3/2/2026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7090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a:lstStyle>
            <a:lvl1pPr>
              <a:defRPr/>
            </a:lvl1pPr>
          </a:lstStyle>
          <a:p>
            <a:r>
              <a:rPr lang="en-US" dirty="0"/>
              <a:t>   </a:t>
            </a:r>
          </a:p>
        </p:txBody>
      </p:sp>
      <p:sp>
        <p:nvSpPr>
          <p:cNvPr id="3" name="Date Placeholder 2">
            <a:extLst>
              <a:ext uri="{FF2B5EF4-FFF2-40B4-BE49-F238E27FC236}">
                <a16:creationId xmlns:a16="http://schemas.microsoft.com/office/drawing/2014/main" id="{8C8F33F2-F4BB-B275-F273-C808EF0E4C3F}"/>
              </a:ext>
            </a:extLst>
          </p:cNvPr>
          <p:cNvSpPr>
            <a:spLocks noGrp="1"/>
          </p:cNvSpPr>
          <p:nvPr>
            <p:ph type="dt" sz="half" idx="16"/>
          </p:nvPr>
        </p:nvSpPr>
        <p:spPr/>
        <p:txBody>
          <a:bodyPr/>
          <a:lstStyle/>
          <a:p>
            <a:fld id="{7DA2CEDE-2AB4-4FB8-9551-E0AA4222B1A3}" type="datetime1">
              <a:rPr lang="en-US" smtClean="0"/>
              <a:t>3/2/2026</a:t>
            </a:fld>
            <a:endParaRPr lang="en-US"/>
          </a:p>
        </p:txBody>
      </p:sp>
      <p:sp>
        <p:nvSpPr>
          <p:cNvPr id="7" name="Footer Placeholder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5763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3/2/2026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a:lstStyle>
            <a:lvl1pPr>
              <a:defRPr/>
            </a:lvl1pPr>
          </a:lstStyle>
          <a:p>
            <a:r>
              <a:rPr lang="en-US" dirty="0"/>
              <a:t>   </a:t>
            </a:r>
          </a:p>
        </p:txBody>
      </p:sp>
      <p:cxnSp>
        <p:nvCxnSpPr>
          <p:cNvPr id="7" name="Straight Connector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2510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1">
              <a:rPr lang="en-US" smtClean="0"/>
              <a:t>3/2/2026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57644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a:lstStyle/>
          <a:p>
            <a:fld id="{7DA2CEDE-2AB4-4FB8-9551-E0AA4222B1A3}" type="datetime1">
              <a:rPr lang="en-US" smtClean="0"/>
              <a:t>3/2/2026</a:t>
            </a:fld>
            <a:endParaRPr lang="en-US"/>
          </a:p>
        </p:txBody>
      </p:sp>
      <p:sp>
        <p:nvSpPr>
          <p:cNvPr id="5" name="Footer Placeholder 4">
            <a:extLst>
              <a:ext uri="{FF2B5EF4-FFF2-40B4-BE49-F238E27FC236}">
                <a16:creationId xmlns:a16="http://schemas.microsoft.com/office/drawing/2014/main" id="{EC0BF832-23A2-A613-62C4-CB5A46DFFDAE}"/>
              </a:ext>
            </a:extLst>
          </p:cNvPr>
          <p:cNvSpPr>
            <a:spLocks noGrp="1"/>
          </p:cNvSpPr>
          <p:nvPr>
            <p:ph type="ftr" sz="quarter" idx="17"/>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75511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6D40D1C1-6E49-4083-B78C-1B50EA73104C}" type="datetime1">
              <a:rPr lang="en-US" smtClean="0"/>
              <a:t>3/2/2026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54755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a:lstStyle/>
          <a:p>
            <a:fld id="{E74C9532-5249-4EF8-9302-9703A89C50A6}" type="datetime1">
              <a:rPr lang="en-US" smtClean="0"/>
              <a:t>3/2/2026</a:t>
            </a:fld>
            <a:endParaRPr lang="en-US"/>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a:lstStyle/>
          <a:p>
            <a:r>
              <a:rPr lang="en-US"/>
              <a:t>Sample Footer Text</a:t>
            </a:r>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0005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3/2/2026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27478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3/2/2026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1553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1">
              <a:rPr lang="en-US" smtClean="0"/>
              <a:t>3/2/2026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4671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anchor="t">
            <a:normAutofit/>
          </a:bodyPr>
          <a:lstStyle>
            <a:lvl1pPr>
              <a:lnSpc>
                <a:spcPct val="100000"/>
              </a:lnSpc>
              <a:defRPr sz="2000">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7E7D3A11-047C-4AE4-9A54-AA0426E18492}" type="datetime1">
              <a:rPr lang="en-US" smtClean="0"/>
              <a:t>3/2/2026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9" name="Content Placeholder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8" name="Straight Connector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94758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Rectangle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itle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anchor="t"/>
          <a:lstStyle>
            <a:lvl1pPr algn="r">
              <a:lnSpc>
                <a:spcPct val="120000"/>
              </a:lnSpc>
              <a:spcBef>
                <a:spcPts val="1000"/>
              </a:spcBef>
              <a:defRPr sz="2000">
                <a:latin typeface="+mn-lt"/>
              </a:defRPr>
            </a:lvl1pPr>
          </a:lstStyle>
          <a:p>
            <a:r>
              <a:rPr lang="en-US" dirty="0"/>
              <a:t>Click to edit Master title style</a:t>
            </a:r>
          </a:p>
        </p:txBody>
      </p:sp>
      <p:sp>
        <p:nvSpPr>
          <p:cNvPr id="14" name="Date Placeholder 13">
            <a:extLst>
              <a:ext uri="{FF2B5EF4-FFF2-40B4-BE49-F238E27FC236}">
                <a16:creationId xmlns:a16="http://schemas.microsoft.com/office/drawing/2014/main" id="{459F1889-15CA-49B5-957D-AFEE32125C96}"/>
              </a:ext>
            </a:extLst>
          </p:cNvPr>
          <p:cNvSpPr>
            <a:spLocks noGrp="1"/>
          </p:cNvSpPr>
          <p:nvPr>
            <p:ph type="dt" sz="half" idx="14"/>
          </p:nvPr>
        </p:nvSpPr>
        <p:spPr/>
        <p:txBody>
          <a:bodyPr/>
          <a:lstStyle/>
          <a:p>
            <a:fld id="{7DA2CEDE-2AB4-4FB8-9551-E0AA4222B1A3}" type="datetime1">
              <a:rPr lang="en-US" smtClean="0"/>
              <a:t>3/2/2026</a:t>
            </a:fld>
            <a:endParaRPr lang="en-US"/>
          </a:p>
        </p:txBody>
      </p:sp>
      <p:sp>
        <p:nvSpPr>
          <p:cNvPr id="15" name="Footer Placeholder 14">
            <a:extLst>
              <a:ext uri="{FF2B5EF4-FFF2-40B4-BE49-F238E27FC236}">
                <a16:creationId xmlns:a16="http://schemas.microsoft.com/office/drawing/2014/main" id="{08B8EC79-A8CC-7A55-D80D-9F557250E751}"/>
              </a:ext>
            </a:extLst>
          </p:cNvPr>
          <p:cNvSpPr>
            <a:spLocks noGrp="1"/>
          </p:cNvSpPr>
          <p:nvPr>
            <p:ph type="ftr" sz="quarter" idx="15"/>
          </p:nvPr>
        </p:nvSpPr>
        <p:spPr/>
        <p:txBody>
          <a:bodyPr/>
          <a:lstStyle/>
          <a:p>
            <a:r>
              <a:rPr lang="en-US"/>
              <a:t>Sample Footer Text</a:t>
            </a:r>
          </a:p>
        </p:txBody>
      </p:sp>
      <p:sp>
        <p:nvSpPr>
          <p:cNvPr id="16" name="Slide Number Placeholder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anchor="t"/>
          <a:lstStyle>
            <a:lvl1pPr>
              <a:lnSpc>
                <a:spcPct val="85000"/>
              </a:lnSpc>
              <a:defRPr sz="24400">
                <a:solidFill>
                  <a:schemeClr val="tx1"/>
                </a:solidFill>
                <a:latin typeface="+mj-lt"/>
              </a:defRPr>
            </a:lvl1pPr>
          </a:lstStyle>
          <a:p>
            <a:pPr lvl="0"/>
            <a:r>
              <a:rPr lang="en-US" dirty="0"/>
              <a:t>##%</a:t>
            </a:r>
          </a:p>
        </p:txBody>
      </p:sp>
    </p:spTree>
    <p:extLst>
      <p:ext uri="{BB962C8B-B14F-4D97-AF65-F5344CB8AC3E}">
        <p14:creationId xmlns:p14="http://schemas.microsoft.com/office/powerpoint/2010/main" val="2835129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itle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anchor="ctr"/>
          <a:lstStyle>
            <a:lvl1pPr algn="ctr">
              <a:lnSpc>
                <a:spcPct val="120000"/>
              </a:lnSpc>
              <a:spcBef>
                <a:spcPts val="1000"/>
              </a:spcBef>
              <a:defRPr sz="2000">
                <a:latin typeface="+mn-lt"/>
              </a:defRPr>
            </a:lvl1pPr>
          </a:lstStyle>
          <a:p>
            <a:r>
              <a:rPr lang="en-US" dirty="0"/>
              <a:t>Click to edit Master title style</a:t>
            </a:r>
          </a:p>
        </p:txBody>
      </p:sp>
      <p:sp>
        <p:nvSpPr>
          <p:cNvPr id="6" name="Content Placeholder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anchor="b"/>
          <a:lstStyle>
            <a:lvl1pPr algn="ctr">
              <a:lnSpc>
                <a:spcPct val="85000"/>
              </a:lnSpc>
              <a:defRPr sz="25500">
                <a:solidFill>
                  <a:schemeClr val="tx1"/>
                </a:solidFill>
                <a:latin typeface="+mj-lt"/>
              </a:defRPr>
            </a:lvl1pPr>
          </a:lstStyle>
          <a:p>
            <a:pPr lvl="0"/>
            <a:r>
              <a:rPr lang="en-US" dirty="0"/>
              <a:t>##%</a:t>
            </a:r>
          </a:p>
        </p:txBody>
      </p:sp>
      <p:cxnSp>
        <p:nvCxnSpPr>
          <p:cNvPr id="14" name="Straight Connector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a:lstStyle/>
          <a:p>
            <a:fld id="{7DA2CEDE-2AB4-4FB8-9551-E0AA4222B1A3}" type="datetime1">
              <a:rPr lang="en-US" smtClean="0"/>
              <a:t>3/2/2026</a:t>
            </a:fld>
            <a:endParaRPr lang="en-US"/>
          </a:p>
        </p:txBody>
      </p:sp>
      <p:sp>
        <p:nvSpPr>
          <p:cNvPr id="16" name="Footer Placeholder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a:lstStyle/>
          <a:p>
            <a:r>
              <a:rPr lang="en-US"/>
              <a:t>Sample Footer Text</a:t>
            </a:r>
          </a:p>
        </p:txBody>
      </p:sp>
      <p:sp>
        <p:nvSpPr>
          <p:cNvPr id="17" name="Slide Number Placeholder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12818153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1">
              <a:rPr lang="en-US" smtClean="0"/>
              <a:t>3/2/2026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3273998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tatement 2">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ctangle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BBFD9073-9E84-4C56-B5C8-FA6026186803}" type="datetime1">
              <a:rPr lang="en-US" smtClean="0"/>
              <a:t>3/2/2026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31122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7FD71008-F1A2-4E65-9AFD-4970D8007661}" type="datetime1">
              <a:rPr lang="en-US" smtClean="0"/>
              <a:t>3/2/2026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4520925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5CFC7E7-57B7-4617-A947-41F006E88028}" type="datetime1">
              <a:rPr lang="en-US" smtClean="0"/>
              <a:t>3/2/2026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3" name="Rectangle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Content Placeholder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501614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3/2/2026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205775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4A4A468-500F-41B2-B72F-78A325FCC0DA}" type="datetime1">
              <a:rPr lang="en-US" smtClean="0"/>
              <a:t>3/2/2026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836902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anchor="ctr">
            <a:normAutofit/>
          </a:bodyPr>
          <a:lstStyle>
            <a:lvl1pPr marL="137160" indent="-137160">
              <a:defRPr sz="1800"/>
            </a:lvl1pPr>
          </a:lstStyle>
          <a:p>
            <a:r>
              <a:rPr lang="en-US"/>
              <a:t>Quote Author</a:t>
            </a:r>
          </a:p>
        </p:txBody>
      </p:sp>
      <p:sp>
        <p:nvSpPr>
          <p:cNvPr id="8" name="Rectangle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9">
            <a:extLst>
              <a:ext uri="{FF2B5EF4-FFF2-40B4-BE49-F238E27FC236}">
                <a16:creationId xmlns:a16="http://schemas.microsoft.com/office/drawing/2014/main" id="{6CBAF11E-83FD-0A35-2B1B-893C4D55AE9F}"/>
              </a:ext>
            </a:extLst>
          </p:cNvPr>
          <p:cNvSpPr>
            <a:spLocks noGrp="1"/>
          </p:cNvSpPr>
          <p:nvPr>
            <p:ph type="dt" sz="half" idx="14"/>
          </p:nvPr>
        </p:nvSpPr>
        <p:spPr/>
        <p:txBody>
          <a:bodyPr/>
          <a:lstStyle/>
          <a:p>
            <a:fld id="{7DA2CEDE-2AB4-4FB8-9551-E0AA4222B1A3}" type="datetime1">
              <a:rPr lang="en-US" smtClean="0"/>
              <a:t>3/2/2026</a:t>
            </a:fld>
            <a:endParaRPr lang="en-US"/>
          </a:p>
        </p:txBody>
      </p:sp>
      <p:sp>
        <p:nvSpPr>
          <p:cNvPr id="11" name="Footer Placeholder 10">
            <a:extLst>
              <a:ext uri="{FF2B5EF4-FFF2-40B4-BE49-F238E27FC236}">
                <a16:creationId xmlns:a16="http://schemas.microsoft.com/office/drawing/2014/main" id="{2C8F38B5-19FF-BF8F-54FC-894E66C40672}"/>
              </a:ext>
            </a:extLst>
          </p:cNvPr>
          <p:cNvSpPr>
            <a:spLocks noGrp="1"/>
          </p:cNvSpPr>
          <p:nvPr>
            <p:ph type="ftr" sz="quarter" idx="15"/>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905948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1">
              <a:rPr lang="en-US" smtClean="0"/>
              <a:t>3/2/2026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719408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1">
              <a:rPr lang="en-US" smtClean="0"/>
              <a:t>3/2/2026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58010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anchor="t">
            <a:normAutofit/>
          </a:bodyPr>
          <a:lstStyle>
            <a:lvl1pPr>
              <a:defRPr sz="5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9CF24436-170D-487D-ADBB-C24D74D1C150}" type="datetime1">
              <a:rPr lang="en-US" smtClean="0"/>
              <a:t>3/2/2026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4" name="Rectangle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511871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1">
              <a:rPr lang="en-US" smtClean="0"/>
              <a:t>3/2/2026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8459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1">
              <a:rPr lang="en-US" smtClean="0"/>
              <a:t>3/2/2026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64248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3/2/2026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86686914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3/2/2026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7477776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B5223AD-184F-4273-AC4F-854D3B259B85}" type="datetime1">
              <a:rPr lang="en-US" smtClean="0"/>
              <a:t>3/2/2026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926387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anchor="t">
            <a:normAutofit/>
          </a:bodyPr>
          <a:lstStyle>
            <a:lvl1pPr>
              <a:defRPr sz="3200"/>
            </a:lvl1pPr>
          </a:lstStyle>
          <a:p>
            <a:r>
              <a:rPr lang="en-US"/>
              <a:t>Click to edit Master title style</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907E4E07-E412-47A0-AB1E-CAAABECD1A31}" type="datetime1">
              <a:rPr lang="en-US" smtClean="0"/>
              <a:t>3/2/2026</a:t>
            </a:fld>
            <a:endParaRPr lang="en-US"/>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53570713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dirty="0"/>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1">
              <a:rPr lang="en-US" smtClean="0"/>
              <a:pPr/>
              <a:t>3/2/2026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66177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xml"/><Relationship Id="rId1" Type="http://schemas.openxmlformats.org/officeDocument/2006/relationships/slideLayout" Target="../slideLayouts/slideLayout5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F2890B-8F76-86F2-9F6B-4DB2E49FF12F}"/>
              </a:ext>
            </a:extLst>
          </p:cNvPr>
          <p:cNvSpPr>
            <a:spLocks noGrp="1"/>
          </p:cNvSpPr>
          <p:nvPr>
            <p:ph type="title"/>
          </p:nvPr>
        </p:nvSpPr>
        <p:spPr>
          <a:xfrm>
            <a:off x="274320" y="388704"/>
            <a:ext cx="9509760" cy="4297679"/>
          </a:xfrm>
        </p:spPr>
        <p:txBody>
          <a:bodyPr anchor="t">
            <a:normAutofit/>
          </a:bodyPr>
          <a:lstStyle/>
          <a:p>
            <a:r>
              <a:rPr lang="en-US" sz="5600"/>
              <a:t>Crown Precision Mold &amp; Machine: Revolutionizing Tire Mold Services for Global Tire Producers (Fictional Company Established in 2026)</a:t>
            </a:r>
          </a:p>
        </p:txBody>
      </p:sp>
      <p:sp>
        <p:nvSpPr>
          <p:cNvPr id="4" name="Subtitle 3">
            <a:extLst>
              <a:ext uri="{FF2B5EF4-FFF2-40B4-BE49-F238E27FC236}">
                <a16:creationId xmlns:a16="http://schemas.microsoft.com/office/drawing/2014/main" id="{28C8697C-423E-D51F-892C-DE6B7DF03D78}"/>
              </a:ext>
            </a:extLst>
          </p:cNvPr>
          <p:cNvSpPr>
            <a:spLocks noGrp="1"/>
          </p:cNvSpPr>
          <p:nvPr>
            <p:ph type="subTitle" idx="1"/>
          </p:nvPr>
        </p:nvSpPr>
        <p:spPr>
          <a:xfrm>
            <a:off x="301751" y="5486399"/>
            <a:ext cx="6951553" cy="726128"/>
          </a:xfrm>
        </p:spPr>
        <p:txBody>
          <a:bodyPr anchor="t">
            <a:normAutofit/>
          </a:bodyPr>
          <a:lstStyle/>
          <a:p>
            <a:r>
              <a:rPr lang="en-US"/>
              <a:t>Innovative tire mold solutions transforming global manufacturing</a:t>
            </a:r>
          </a:p>
        </p:txBody>
      </p:sp>
      <p:sp>
        <p:nvSpPr>
          <p:cNvPr id="5" name="Date Placeholder 4">
            <a:extLst>
              <a:ext uri="{FF2B5EF4-FFF2-40B4-BE49-F238E27FC236}">
                <a16:creationId xmlns:a16="http://schemas.microsoft.com/office/drawing/2014/main" id="{B4901C7E-3AFC-D9B3-E00E-47DB7888C14A}"/>
              </a:ext>
            </a:extLst>
          </p:cNvPr>
          <p:cNvSpPr>
            <a:spLocks noGrp="1"/>
          </p:cNvSpPr>
          <p:nvPr>
            <p:ph type="dt" sz="half" idx="10"/>
          </p:nvPr>
        </p:nvSpPr>
        <p:spPr>
          <a:xfrm>
            <a:off x="301752" y="6304985"/>
            <a:ext cx="2218156" cy="365760"/>
          </a:xfrm>
        </p:spPr>
        <p:txBody>
          <a:bodyPr anchor="ctr">
            <a:normAutofit/>
          </a:bodyPr>
          <a:lstStyle/>
          <a:p>
            <a:pPr>
              <a:spcAft>
                <a:spcPts val="600"/>
              </a:spcAft>
            </a:pPr>
            <a:fld id="{7DA2CEDE-2AB4-4FB8-9551-E0AA4222B1A3}" type="datetime1">
              <a:rPr lang="en-US" smtClean="0"/>
              <a:pPr>
                <a:spcAft>
                  <a:spcPts val="600"/>
                </a:spcAft>
              </a:pPr>
              <a:t>3/2/2026</a:t>
            </a:fld>
            <a:endParaRPr lang="en-US"/>
          </a:p>
        </p:txBody>
      </p:sp>
      <p:sp>
        <p:nvSpPr>
          <p:cNvPr id="6" name="Footer Placeholder 5">
            <a:extLst>
              <a:ext uri="{FF2B5EF4-FFF2-40B4-BE49-F238E27FC236}">
                <a16:creationId xmlns:a16="http://schemas.microsoft.com/office/drawing/2014/main" id="{0C9B889E-B1AA-16A7-236E-28FE65B7BDF6}"/>
              </a:ext>
            </a:extLst>
          </p:cNvPr>
          <p:cNvSpPr>
            <a:spLocks noGrp="1"/>
          </p:cNvSpPr>
          <p:nvPr>
            <p:ph type="ftr" sz="quarter" idx="11"/>
          </p:nvPr>
        </p:nvSpPr>
        <p:spPr>
          <a:xfrm>
            <a:off x="7622485" y="6304985"/>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B3861A33-02A5-92E6-F371-F9697D187679}"/>
              </a:ext>
            </a:extLst>
          </p:cNvPr>
          <p:cNvSpPr>
            <a:spLocks noGrp="1"/>
          </p:cNvSpPr>
          <p:nvPr>
            <p:ph type="sldNum" sz="quarter" idx="12"/>
          </p:nvPr>
        </p:nvSpPr>
        <p:spPr>
          <a:xfrm>
            <a:off x="11407526" y="6304985"/>
            <a:ext cx="493776" cy="365760"/>
          </a:xfrm>
        </p:spPr>
        <p:txBody>
          <a:bodyPr anchor="ctr">
            <a:normAutofit/>
          </a:bodyPr>
          <a:lstStyle/>
          <a:p>
            <a:pPr>
              <a:spcAft>
                <a:spcPts val="600"/>
              </a:spcAft>
            </a:pPr>
            <a:fld id="{5E0677F5-4A8A-4BF1-96BE-3BAE8FBAFE2E}" type="slidenum">
              <a:rPr lang="en-US" smtClean="0"/>
              <a:pPr>
                <a:spcAft>
                  <a:spcPts val="600"/>
                </a:spcAft>
              </a:pPr>
              <a:t>1</a:t>
            </a:fld>
            <a:endParaRPr lang="en-US"/>
          </a:p>
        </p:txBody>
      </p:sp>
    </p:spTree>
    <p:extLst>
      <p:ext uri="{BB962C8B-B14F-4D97-AF65-F5344CB8AC3E}">
        <p14:creationId xmlns:p14="http://schemas.microsoft.com/office/powerpoint/2010/main" val="350484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4"/>
                                        </p:tgtEl>
                                        <p:attrNameLst>
                                          <p:attrName>style.visibility</p:attrName>
                                        </p:attrNameLst>
                                      </p:cBhvr>
                                      <p:to>
                                        <p:strVal val="visible"/>
                                      </p:to>
                                    </p:set>
                                    <p:animEffect transition="in" filter="fade">
                                      <p:cBhvr>
                                        <p:cTn id="13" dur="250"/>
                                        <p:tgtEl>
                                          <p:spTgt spid="4"/>
                                        </p:tgtEl>
                                      </p:cBhvr>
                                    </p:animEffect>
                                    <p:anim calcmode="lin" valueType="num">
                                      <p:cBhvr>
                                        <p:cTn id="14" dur="250" fill="hold"/>
                                        <p:tgtEl>
                                          <p:spTgt spid="4"/>
                                        </p:tgtEl>
                                        <p:attrNameLst>
                                          <p:attrName>ppt_x</p:attrName>
                                        </p:attrNameLst>
                                      </p:cBhvr>
                                      <p:tavLst>
                                        <p:tav tm="0">
                                          <p:val>
                                            <p:strVal val="#ppt_x"/>
                                          </p:val>
                                        </p:tav>
                                        <p:tav tm="100000">
                                          <p:val>
                                            <p:strVal val="#ppt_x"/>
                                          </p:val>
                                        </p:tav>
                                      </p:tavLst>
                                    </p:anim>
                                    <p:anim calcmode="lin" valueType="num">
                                      <p:cBhvr>
                                        <p:cTn id="15"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FB01B-98C3-5C34-4252-1A19CC4BB806}"/>
              </a:ext>
            </a:extLst>
          </p:cNvPr>
          <p:cNvSpPr>
            <a:spLocks noGrp="1"/>
          </p:cNvSpPr>
          <p:nvPr>
            <p:ph type="title"/>
          </p:nvPr>
        </p:nvSpPr>
        <p:spPr>
          <a:xfrm>
            <a:off x="266702" y="1714498"/>
            <a:ext cx="4960617" cy="4722876"/>
          </a:xfrm>
        </p:spPr>
        <p:txBody>
          <a:bodyPr anchor="b">
            <a:normAutofit/>
          </a:bodyPr>
          <a:lstStyle/>
          <a:p>
            <a:r>
              <a:rPr lang="en-US"/>
              <a:t>Agenda Items</a:t>
            </a:r>
          </a:p>
        </p:txBody>
      </p:sp>
      <p:sp>
        <p:nvSpPr>
          <p:cNvPr id="3" name="Date Placeholder 2">
            <a:extLst>
              <a:ext uri="{FF2B5EF4-FFF2-40B4-BE49-F238E27FC236}">
                <a16:creationId xmlns:a16="http://schemas.microsoft.com/office/drawing/2014/main" id="{6212415D-73B8-A556-F2A1-505B7547E300}"/>
              </a:ext>
            </a:extLst>
          </p:cNvPr>
          <p:cNvSpPr>
            <a:spLocks noGrp="1"/>
          </p:cNvSpPr>
          <p:nvPr>
            <p:ph type="dt" sz="half" idx="14"/>
          </p:nvPr>
        </p:nvSpPr>
        <p:spPr>
          <a:xfrm>
            <a:off x="301752" y="210114"/>
            <a:ext cx="1759288" cy="365760"/>
          </a:xfrm>
        </p:spPr>
        <p:txBody>
          <a:bodyPr anchor="ctr">
            <a:normAutofit/>
          </a:bodyPr>
          <a:lstStyle/>
          <a:p>
            <a:pPr>
              <a:spcAft>
                <a:spcPts val="600"/>
              </a:spcAft>
            </a:pPr>
            <a:fld id="{80EE6BAA-0080-49BB-A5F6-D96B22DFE410}"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E2927E0B-15C9-E3C7-30D0-D8B6B00BB96E}"/>
              </a:ext>
            </a:extLst>
          </p:cNvPr>
          <p:cNvSpPr>
            <a:spLocks noGrp="1"/>
          </p:cNvSpPr>
          <p:nvPr>
            <p:ph type="ftr" sz="quarter" idx="15"/>
          </p:nvPr>
        </p:nvSpPr>
        <p:spPr>
          <a:xfrm>
            <a:off x="7909368" y="210114"/>
            <a:ext cx="250928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8239B7C0-09D1-AC74-4823-331B48CF15C2}"/>
              </a:ext>
            </a:extLst>
          </p:cNvPr>
          <p:cNvSpPr>
            <a:spLocks noGrp="1"/>
          </p:cNvSpPr>
          <p:nvPr>
            <p:ph type="sldNum" sz="quarter" idx="16"/>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2</a:t>
            </a:fld>
            <a:endParaRPr lang="en-US"/>
          </a:p>
        </p:txBody>
      </p:sp>
      <p:sp>
        <p:nvSpPr>
          <p:cNvPr id="6" name="Content Placeholder 5">
            <a:extLst>
              <a:ext uri="{FF2B5EF4-FFF2-40B4-BE49-F238E27FC236}">
                <a16:creationId xmlns:a16="http://schemas.microsoft.com/office/drawing/2014/main" id="{985E7601-7795-54F3-2228-11E4ECB64B50}"/>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7952232" y="1246951"/>
            <a:ext cx="3404277" cy="4923185"/>
          </a:xfrm>
        </p:spPr>
        <p:txBody>
          <a:bodyPr anchor="t">
            <a:normAutofit/>
          </a:bodyPr>
          <a:lstStyle/>
          <a:p>
            <a:pPr>
              <a:buFont typeface="Arial" panose="020B0604020202020204" pitchFamily="34" charset="0"/>
              <a:buChar char="•"/>
            </a:pPr>
            <a:r>
              <a:t>Company Origins and Founding Vision</a:t>
            </a:r>
          </a:p>
          <a:p>
            <a:pPr>
              <a:buFont typeface="Arial" panose="020B0604020202020204" pitchFamily="34" charset="0"/>
              <a:buChar char="•"/>
            </a:pPr>
            <a:r>
              <a:t>Strategic Partnerships with Leading Tire Manufacturers</a:t>
            </a:r>
          </a:p>
          <a:p>
            <a:pPr>
              <a:buFont typeface="Arial" panose="020B0604020202020204" pitchFamily="34" charset="0"/>
              <a:buChar char="•"/>
            </a:pPr>
            <a:r>
              <a:t>Comprehensive Tire Mold Services</a:t>
            </a:r>
          </a:p>
          <a:p>
            <a:pPr>
              <a:buFont typeface="Arial" panose="020B0604020202020204" pitchFamily="34" charset="0"/>
              <a:buChar char="•"/>
            </a:pPr>
            <a:r>
              <a:t>Value Delivered: Cost Savings, Quality Improvement, and Market Competitiveness</a:t>
            </a:r>
          </a:p>
          <a:p>
            <a:pPr>
              <a:buFont typeface="Arial" panose="020B0604020202020204" pitchFamily="34" charset="0"/>
              <a:buChar char="•"/>
            </a:pPr>
            <a:r>
              <a:t>Commitment to Service Excellence and Innovation</a:t>
            </a:r>
            <a:endParaRPr lang="en-US"/>
          </a:p>
        </p:txBody>
      </p:sp>
    </p:spTree>
    <p:extLst>
      <p:ext uri="{BB962C8B-B14F-4D97-AF65-F5344CB8AC3E}">
        <p14:creationId xmlns:p14="http://schemas.microsoft.com/office/powerpoint/2010/main" val="38208525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DDB7D9-E0FD-C6D2-18CB-0D7FE5D3260D}"/>
              </a:ext>
            </a:extLst>
          </p:cNvPr>
          <p:cNvSpPr>
            <a:spLocks noGrp="1"/>
          </p:cNvSpPr>
          <p:nvPr>
            <p:ph type="title"/>
          </p:nvPr>
        </p:nvSpPr>
        <p:spPr>
          <a:xfrm>
            <a:off x="3018499" y="952500"/>
            <a:ext cx="8887299" cy="5636798"/>
          </a:xfrm>
        </p:spPr>
        <p:txBody>
          <a:bodyPr anchor="b">
            <a:normAutofit/>
          </a:bodyPr>
          <a:lstStyle/>
          <a:p>
            <a:r>
              <a:rPr lang="en-US"/>
              <a:t>Company Origins and Founding Vision</a:t>
            </a:r>
          </a:p>
        </p:txBody>
      </p:sp>
      <p:sp>
        <p:nvSpPr>
          <p:cNvPr id="5" name="Date Placeholder 4">
            <a:extLst>
              <a:ext uri="{FF2B5EF4-FFF2-40B4-BE49-F238E27FC236}">
                <a16:creationId xmlns:a16="http://schemas.microsoft.com/office/drawing/2014/main" id="{2FE8F5D6-E68D-01D9-5E41-40F3FA913490}"/>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3/2/2026</a:t>
            </a:fld>
            <a:endParaRPr lang="en-US"/>
          </a:p>
        </p:txBody>
      </p:sp>
      <p:sp>
        <p:nvSpPr>
          <p:cNvPr id="6" name="Footer Placeholder 5">
            <a:extLst>
              <a:ext uri="{FF2B5EF4-FFF2-40B4-BE49-F238E27FC236}">
                <a16:creationId xmlns:a16="http://schemas.microsoft.com/office/drawing/2014/main" id="{DC015DD9-A8B1-4DC9-D9EF-C5A42C3C22A3}"/>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1F4D9E49-10EA-E83F-6729-EF353D1BDEBD}"/>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3</a:t>
            </a:fld>
            <a:endParaRPr lang="en-US"/>
          </a:p>
        </p:txBody>
      </p:sp>
    </p:spTree>
    <p:extLst>
      <p:ext uri="{BB962C8B-B14F-4D97-AF65-F5344CB8AC3E}">
        <p14:creationId xmlns:p14="http://schemas.microsoft.com/office/powerpoint/2010/main" val="3045484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5CFDD-6920-7374-A24A-9FE528080C6F}"/>
              </a:ext>
            </a:extLst>
          </p:cNvPr>
          <p:cNvSpPr>
            <a:spLocks noGrp="1"/>
          </p:cNvSpPr>
          <p:nvPr>
            <p:ph type="title"/>
          </p:nvPr>
        </p:nvSpPr>
        <p:spPr>
          <a:xfrm>
            <a:off x="8159103" y="952500"/>
            <a:ext cx="3239262" cy="1582882"/>
          </a:xfrm>
        </p:spPr>
        <p:txBody>
          <a:bodyPr anchor="b">
            <a:normAutofit/>
          </a:bodyPr>
          <a:lstStyle/>
          <a:p>
            <a:r>
              <a:rPr lang="en-US"/>
              <a:t>Establishment in 2026 by Industry Veterans</a:t>
            </a:r>
          </a:p>
        </p:txBody>
      </p:sp>
      <p:pic>
        <p:nvPicPr>
          <p:cNvPr id="8" name="Content Placeholder 7" descr="Experienced professionals collaborating in a modern precision mold manufacturing facility">
            <a:extLst>
              <a:ext uri="{FF2B5EF4-FFF2-40B4-BE49-F238E27FC236}">
                <a16:creationId xmlns:a16="http://schemas.microsoft.com/office/drawing/2014/main" id="{E9FD53D9-5E0E-4DB2-8214-FD6EB181FF38}"/>
              </a:ext>
            </a:extLst>
          </p:cNvPr>
          <p:cNvPicPr>
            <a:picLocks noGrp="1" noChangeAspect="1"/>
          </p:cNvPicPr>
          <p:nvPr>
            <p:ph type="pic" sz="quarter" idx="15"/>
          </p:nvPr>
        </p:nvPicPr>
        <p:blipFill>
          <a:blip r:embed="rId3"/>
          <a:srcRect l="11506" r="14326" b="-1"/>
          <a:stretch>
            <a:fillRect/>
          </a:stretch>
        </p:blipFill>
        <p:spPr>
          <a:xfrm>
            <a:off x="20" y="10"/>
            <a:ext cx="7619980" cy="6857991"/>
          </a:xfrm>
        </p:spPr>
      </p:pic>
      <p:sp>
        <p:nvSpPr>
          <p:cNvPr id="3" name="Date Placeholder 2">
            <a:extLst>
              <a:ext uri="{FF2B5EF4-FFF2-40B4-BE49-F238E27FC236}">
                <a16:creationId xmlns:a16="http://schemas.microsoft.com/office/drawing/2014/main" id="{ED6916F5-FE54-B6F7-D3CF-C30DF9B0FA24}"/>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26B90258-9B25-167F-33C0-8BC42A6AE936}"/>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CF0CD26D-F448-D304-2699-5842370AAE90}"/>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4</a:t>
            </a:fld>
            <a:endParaRPr lang="en-US"/>
          </a:p>
        </p:txBody>
      </p:sp>
      <p:sp>
        <p:nvSpPr>
          <p:cNvPr id="7" name="Content Placeholder 6">
            <a:extLst>
              <a:ext uri="{FF2B5EF4-FFF2-40B4-BE49-F238E27FC236}">
                <a16:creationId xmlns:a16="http://schemas.microsoft.com/office/drawing/2014/main" id="{AE5BA400-9C4A-958C-CA98-78CF291EC3A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100" b="1"/>
              <a:t>Founded by Industry Veterans</a:t>
            </a:r>
          </a:p>
          <a:p>
            <a:pPr marL="0" lvl="1" indent="0">
              <a:lnSpc>
                <a:spcPct val="110000"/>
              </a:lnSpc>
              <a:buFont typeface="Arial" panose="020B0604020202020204" pitchFamily="34" charset="0"/>
              <a:buNone/>
            </a:pPr>
            <a:r>
              <a:rPr lang="en-US" sz="1100"/>
              <a:t>The company was established by experts with over 100 years of combined experience in tire mold manufacturing and machine operation.</a:t>
            </a:r>
          </a:p>
          <a:p>
            <a:pPr marL="0" indent="0">
              <a:lnSpc>
                <a:spcPct val="110000"/>
              </a:lnSpc>
              <a:spcBef>
                <a:spcPts val="2500"/>
              </a:spcBef>
              <a:buFont typeface="Arial" panose="020B0604020202020204" pitchFamily="34" charset="0"/>
              <a:buNone/>
            </a:pPr>
            <a:r>
              <a:rPr lang="en-US" sz="1100" b="1"/>
              <a:t>Strong Industry Foundation</a:t>
            </a:r>
          </a:p>
          <a:p>
            <a:pPr marL="0" lvl="1" indent="0">
              <a:lnSpc>
                <a:spcPct val="110000"/>
              </a:lnSpc>
              <a:buFont typeface="Arial" panose="020B0604020202020204" pitchFamily="34" charset="0"/>
              <a:buNone/>
            </a:pPr>
            <a:r>
              <a:rPr lang="en-US" sz="1100"/>
              <a:t>Deep expertise provided a solid foundation enabling the company to quickly gain trust in a competitive market.</a:t>
            </a:r>
          </a:p>
          <a:p>
            <a:pPr marL="0" indent="0">
              <a:lnSpc>
                <a:spcPct val="110000"/>
              </a:lnSpc>
              <a:spcBef>
                <a:spcPts val="2500"/>
              </a:spcBef>
              <a:buFont typeface="Arial" panose="020B0604020202020204" pitchFamily="34" charset="0"/>
              <a:buNone/>
            </a:pPr>
            <a:r>
              <a:rPr lang="en-US" sz="1100" b="1"/>
              <a:t>Competitive Market Presence</a:t>
            </a:r>
          </a:p>
          <a:p>
            <a:pPr marL="0" lvl="1" indent="0">
              <a:lnSpc>
                <a:spcPct val="110000"/>
              </a:lnSpc>
              <a:buFont typeface="Arial" panose="020B0604020202020204" pitchFamily="34" charset="0"/>
              <a:buNone/>
            </a:pPr>
            <a:r>
              <a:rPr lang="en-US" sz="1100"/>
              <a:t>The company rapidly positioned itself as a reliable partner in a market dominated by legacy firms.</a:t>
            </a:r>
          </a:p>
        </p:txBody>
      </p:sp>
    </p:spTree>
    <p:extLst>
      <p:ext uri="{BB962C8B-B14F-4D97-AF65-F5344CB8AC3E}">
        <p14:creationId xmlns:p14="http://schemas.microsoft.com/office/powerpoint/2010/main" val="2395746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7D492-7A10-A39B-5BBF-DE8596FA32ED}"/>
              </a:ext>
            </a:extLst>
          </p:cNvPr>
          <p:cNvSpPr>
            <a:spLocks noGrp="1"/>
          </p:cNvSpPr>
          <p:nvPr>
            <p:ph type="title"/>
          </p:nvPr>
        </p:nvSpPr>
        <p:spPr>
          <a:xfrm>
            <a:off x="5210016" y="957435"/>
            <a:ext cx="6400800" cy="885847"/>
          </a:xfrm>
        </p:spPr>
        <p:txBody>
          <a:bodyPr anchor="b">
            <a:normAutofit/>
          </a:bodyPr>
          <a:lstStyle/>
          <a:p>
            <a:r>
              <a:rPr lang="en-US"/>
              <a:t>Founders’ Expertise and Experience</a:t>
            </a:r>
          </a:p>
        </p:txBody>
      </p:sp>
      <p:pic>
        <p:nvPicPr>
          <p:cNvPr id="8" name="Content Placeholder 7" descr="precision mold design, advanced machining, tire production process, leadership innovation">
            <a:extLst>
              <a:ext uri="{FF2B5EF4-FFF2-40B4-BE49-F238E27FC236}">
                <a16:creationId xmlns:a16="http://schemas.microsoft.com/office/drawing/2014/main" id="{85156461-0D19-476F-88AC-09CF4FE3277C}"/>
              </a:ext>
            </a:extLst>
          </p:cNvPr>
          <p:cNvPicPr>
            <a:picLocks noGrp="1" noChangeAspect="1"/>
          </p:cNvPicPr>
          <p:nvPr>
            <p:ph type="pic" sz="quarter" idx="15"/>
          </p:nvPr>
        </p:nvPicPr>
        <p:blipFill>
          <a:blip r:embed="rId3"/>
          <a:srcRect l="53012" r="1260" b="-1"/>
          <a:stretch>
            <a:fillRect/>
          </a:stretch>
        </p:blipFill>
        <p:spPr>
          <a:xfrm>
            <a:off x="2" y="10"/>
            <a:ext cx="4698090" cy="6857991"/>
          </a:xfrm>
        </p:spPr>
      </p:pic>
      <p:sp>
        <p:nvSpPr>
          <p:cNvPr id="3" name="Date Placeholder 2">
            <a:extLst>
              <a:ext uri="{FF2B5EF4-FFF2-40B4-BE49-F238E27FC236}">
                <a16:creationId xmlns:a16="http://schemas.microsoft.com/office/drawing/2014/main" id="{19CADC72-8DF4-A3B1-A384-8EEE3F0AA696}"/>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BEBE5312-83A2-78A4-F92A-5101A4A37D6C}"/>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716862E8-5C88-9358-4E65-9041042D09B0}"/>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5</a:t>
            </a:fld>
            <a:endParaRPr lang="en-US"/>
          </a:p>
        </p:txBody>
      </p:sp>
      <p:sp>
        <p:nvSpPr>
          <p:cNvPr id="7" name="Content Placeholder 6">
            <a:extLst>
              <a:ext uri="{FF2B5EF4-FFF2-40B4-BE49-F238E27FC236}">
                <a16:creationId xmlns:a16="http://schemas.microsoft.com/office/drawing/2014/main" id="{5494A22A-4BD3-DFC6-07CB-42F67967DA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indent="0">
              <a:spcBef>
                <a:spcPts val="2500"/>
              </a:spcBef>
              <a:buFont typeface="Arial" panose="020B0604020202020204" pitchFamily="34" charset="0"/>
              <a:buNone/>
            </a:pPr>
            <a:r>
              <a:rPr lang="en-US" b="1"/>
              <a:t>Precision Mold Design</a:t>
            </a:r>
          </a:p>
          <a:p>
            <a:pPr marL="0" lvl="1" indent="0">
              <a:buFont typeface="Arial" panose="020B0604020202020204" pitchFamily="34" charset="0"/>
              <a:buNone/>
            </a:pPr>
            <a:r>
              <a:t>Founders have deep expertise in designing precise molds critical for tire manufacturing quality and performance.</a:t>
            </a:r>
            <a:endParaRPr lang="en-US"/>
          </a:p>
          <a:p>
            <a:pPr marL="0" indent="0">
              <a:spcBef>
                <a:spcPts val="2500"/>
              </a:spcBef>
              <a:buFont typeface="Arial" panose="020B0604020202020204" pitchFamily="34" charset="0"/>
              <a:buNone/>
            </a:pPr>
            <a:r>
              <a:rPr lang="en-US" b="1"/>
              <a:t>Innovative Machining Techniques</a:t>
            </a:r>
          </a:p>
          <a:p>
            <a:pPr marL="0" lvl="1" indent="0">
              <a:buFont typeface="Arial" panose="020B0604020202020204" pitchFamily="34" charset="0"/>
              <a:buNone/>
            </a:pPr>
            <a:r>
              <a:t>They apply innovative machining methods to enhance manufacturing efficiency and product durability.</a:t>
            </a:r>
            <a:endParaRPr lang="en-US"/>
          </a:p>
          <a:p>
            <a:pPr marL="0" indent="0">
              <a:spcBef>
                <a:spcPts val="2500"/>
              </a:spcBef>
              <a:buFont typeface="Arial" panose="020B0604020202020204" pitchFamily="34" charset="0"/>
              <a:buNone/>
            </a:pPr>
            <a:r>
              <a:rPr lang="en-US" b="1"/>
              <a:t>Leadership in Tire Mold Industry</a:t>
            </a:r>
          </a:p>
          <a:p>
            <a:pPr marL="0" lvl="1" indent="0">
              <a:buFont typeface="Arial" panose="020B0604020202020204" pitchFamily="34" charset="0"/>
              <a:buNone/>
            </a:pPr>
            <a:r>
              <a:t>Their leadership in top-tier tire mold manufacturers helped identify market gaps and drive process improvements.</a:t>
            </a:r>
            <a:endParaRPr lang="en-US"/>
          </a:p>
          <a:p>
            <a:pPr marL="0" indent="0">
              <a:spcBef>
                <a:spcPts val="2500"/>
              </a:spcBef>
              <a:buFont typeface="Arial" panose="020B0604020202020204" pitchFamily="34" charset="0"/>
              <a:buNone/>
            </a:pPr>
            <a:r>
              <a:rPr lang="en-US" b="1"/>
              <a:t>Process Innovation for Longevity</a:t>
            </a:r>
          </a:p>
          <a:p>
            <a:pPr marL="0" lvl="1" indent="0">
              <a:buFont typeface="Arial" panose="020B0604020202020204" pitchFamily="34" charset="0"/>
              <a:buNone/>
            </a:pPr>
            <a:r>
              <a:t>Innovations introduced by founders reduce downtime and extend mold lifespan in tire production.</a:t>
            </a:r>
            <a:endParaRPr lang="en-US"/>
          </a:p>
        </p:txBody>
      </p:sp>
    </p:spTree>
    <p:extLst>
      <p:ext uri="{BB962C8B-B14F-4D97-AF65-F5344CB8AC3E}">
        <p14:creationId xmlns:p14="http://schemas.microsoft.com/office/powerpoint/2010/main" val="40853610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0F10-34B6-3BDC-D3FC-A492E728D3B1}"/>
              </a:ext>
            </a:extLst>
          </p:cNvPr>
          <p:cNvSpPr>
            <a:spLocks noGrp="1"/>
          </p:cNvSpPr>
          <p:nvPr>
            <p:ph type="title"/>
          </p:nvPr>
        </p:nvSpPr>
        <p:spPr>
          <a:xfrm>
            <a:off x="8159103" y="952500"/>
            <a:ext cx="3239262" cy="1582882"/>
          </a:xfrm>
        </p:spPr>
        <p:txBody>
          <a:bodyPr anchor="b">
            <a:normAutofit/>
          </a:bodyPr>
          <a:lstStyle/>
          <a:p>
            <a:r>
              <a:rPr lang="en-US"/>
              <a:t>Mission and Values Driving the Company</a:t>
            </a:r>
          </a:p>
        </p:txBody>
      </p:sp>
      <p:pic>
        <p:nvPicPr>
          <p:cNvPr id="8" name="Content Placeholder 7" descr="Modern manufacturing facility with precision molds, teamwork, sustainability icons, and innovation symbols">
            <a:extLst>
              <a:ext uri="{FF2B5EF4-FFF2-40B4-BE49-F238E27FC236}">
                <a16:creationId xmlns:a16="http://schemas.microsoft.com/office/drawing/2014/main" id="{E72A5BF2-A443-408D-923C-AE0A5F61C68C}"/>
              </a:ext>
            </a:extLst>
          </p:cNvPr>
          <p:cNvPicPr>
            <a:picLocks noGrp="1" noChangeAspect="1"/>
          </p:cNvPicPr>
          <p:nvPr>
            <p:ph type="pic" sz="quarter" idx="15"/>
          </p:nvPr>
        </p:nvPicPr>
        <p:blipFill>
          <a:blip r:embed="rId3"/>
          <a:srcRect l="16985" r="8848" b="-1"/>
          <a:stretch>
            <a:fillRect/>
          </a:stretch>
        </p:blipFill>
        <p:spPr>
          <a:xfrm>
            <a:off x="20" y="10"/>
            <a:ext cx="7619980" cy="6857991"/>
          </a:xfrm>
        </p:spPr>
      </p:pic>
      <p:sp>
        <p:nvSpPr>
          <p:cNvPr id="3" name="Date Placeholder 2">
            <a:extLst>
              <a:ext uri="{FF2B5EF4-FFF2-40B4-BE49-F238E27FC236}">
                <a16:creationId xmlns:a16="http://schemas.microsoft.com/office/drawing/2014/main" id="{13279C88-8E64-59D5-A9A9-18A781953AC7}"/>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FFED8279-6986-00D8-48F3-30773A41BD0A}"/>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5459BDD0-8578-EEC2-D4D7-A3DA6CC3AD49}"/>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6</a:t>
            </a:fld>
            <a:endParaRPr lang="en-US"/>
          </a:p>
        </p:txBody>
      </p:sp>
      <p:sp>
        <p:nvSpPr>
          <p:cNvPr id="7" name="Content Placeholder 6">
            <a:extLst>
              <a:ext uri="{FF2B5EF4-FFF2-40B4-BE49-F238E27FC236}">
                <a16:creationId xmlns:a16="http://schemas.microsoft.com/office/drawing/2014/main" id="{3A7C6844-9189-1EE4-9300-BFD0B912B38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100" b="1"/>
              <a:t>Commitment to Quality</a:t>
            </a:r>
          </a:p>
          <a:p>
            <a:pPr marL="0" lvl="1" indent="0">
              <a:lnSpc>
                <a:spcPct val="110000"/>
              </a:lnSpc>
              <a:buFont typeface="Arial" panose="020B0604020202020204" pitchFamily="34" charset="0"/>
              <a:buNone/>
            </a:pPr>
            <a:r>
              <a:rPr lang="en-US" sz="1100"/>
              <a:t>The company prioritizes exceptional mold quality and reliable service to meet customer demands consistently.</a:t>
            </a:r>
          </a:p>
          <a:p>
            <a:pPr marL="0" indent="0">
              <a:lnSpc>
                <a:spcPct val="110000"/>
              </a:lnSpc>
              <a:spcBef>
                <a:spcPts val="2500"/>
              </a:spcBef>
              <a:buFont typeface="Arial" panose="020B0604020202020204" pitchFamily="34" charset="0"/>
              <a:buNone/>
            </a:pPr>
            <a:r>
              <a:rPr lang="en-US" sz="1100" b="1"/>
              <a:t>Sustainable Manufacturing</a:t>
            </a:r>
          </a:p>
          <a:p>
            <a:pPr marL="0" lvl="1" indent="0">
              <a:lnSpc>
                <a:spcPct val="110000"/>
              </a:lnSpc>
              <a:buFont typeface="Arial" panose="020B0604020202020204" pitchFamily="34" charset="0"/>
              <a:buNone/>
            </a:pPr>
            <a:r>
              <a:rPr lang="en-US" sz="1100"/>
              <a:t>Sustainability guides manufacturing practices to reduce environmental impact and promote responsibility.</a:t>
            </a:r>
          </a:p>
          <a:p>
            <a:pPr marL="0" indent="0">
              <a:lnSpc>
                <a:spcPct val="110000"/>
              </a:lnSpc>
              <a:spcBef>
                <a:spcPts val="2500"/>
              </a:spcBef>
              <a:buFont typeface="Arial" panose="020B0604020202020204" pitchFamily="34" charset="0"/>
              <a:buNone/>
            </a:pPr>
            <a:r>
              <a:rPr lang="en-US" sz="1100" b="1"/>
              <a:t>Innovation and Collaboration</a:t>
            </a:r>
          </a:p>
          <a:p>
            <a:pPr marL="0" lvl="1" indent="0">
              <a:lnSpc>
                <a:spcPct val="110000"/>
              </a:lnSpc>
              <a:buFont typeface="Arial" panose="020B0604020202020204" pitchFamily="34" charset="0"/>
              <a:buNone/>
            </a:pPr>
            <a:r>
              <a:rPr lang="en-US" sz="1100"/>
              <a:t>Innovation and close customer collaboration drive continuous improvement and strong partnerships.</a:t>
            </a:r>
          </a:p>
        </p:txBody>
      </p:sp>
    </p:spTree>
    <p:extLst>
      <p:ext uri="{BB962C8B-B14F-4D97-AF65-F5344CB8AC3E}">
        <p14:creationId xmlns:p14="http://schemas.microsoft.com/office/powerpoint/2010/main" val="33030122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5CD0E8-9DBF-9114-EEB3-B8936852C152}"/>
              </a:ext>
            </a:extLst>
          </p:cNvPr>
          <p:cNvSpPr>
            <a:spLocks noGrp="1"/>
          </p:cNvSpPr>
          <p:nvPr>
            <p:ph type="title"/>
          </p:nvPr>
        </p:nvSpPr>
        <p:spPr>
          <a:xfrm>
            <a:off x="3018499" y="952500"/>
            <a:ext cx="8887299" cy="5636798"/>
          </a:xfrm>
        </p:spPr>
        <p:txBody>
          <a:bodyPr anchor="b">
            <a:normAutofit/>
          </a:bodyPr>
          <a:lstStyle/>
          <a:p>
            <a:r>
              <a:rPr lang="en-US"/>
              <a:t>Strategic Partnerships with Leading Tire Manufacturers</a:t>
            </a:r>
          </a:p>
        </p:txBody>
      </p:sp>
      <p:sp>
        <p:nvSpPr>
          <p:cNvPr id="5" name="Date Placeholder 4">
            <a:extLst>
              <a:ext uri="{FF2B5EF4-FFF2-40B4-BE49-F238E27FC236}">
                <a16:creationId xmlns:a16="http://schemas.microsoft.com/office/drawing/2014/main" id="{7E447875-4AA7-B7C2-7B42-B5BD29667EAF}"/>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3/2/2026</a:t>
            </a:fld>
            <a:endParaRPr lang="en-US"/>
          </a:p>
        </p:txBody>
      </p:sp>
      <p:sp>
        <p:nvSpPr>
          <p:cNvPr id="6" name="Footer Placeholder 5">
            <a:extLst>
              <a:ext uri="{FF2B5EF4-FFF2-40B4-BE49-F238E27FC236}">
                <a16:creationId xmlns:a16="http://schemas.microsoft.com/office/drawing/2014/main" id="{096A655C-CBE2-C965-0673-0BAF2BD34C8B}"/>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934BAE2F-6E22-5396-CB7D-2087AFFA9C25}"/>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7</a:t>
            </a:fld>
            <a:endParaRPr lang="en-US"/>
          </a:p>
        </p:txBody>
      </p:sp>
    </p:spTree>
    <p:extLst>
      <p:ext uri="{BB962C8B-B14F-4D97-AF65-F5344CB8AC3E}">
        <p14:creationId xmlns:p14="http://schemas.microsoft.com/office/powerpoint/2010/main" val="36893721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FFEC1-B81F-E459-D9EE-854048DF8D40}"/>
              </a:ext>
            </a:extLst>
          </p:cNvPr>
          <p:cNvSpPr>
            <a:spLocks noGrp="1"/>
          </p:cNvSpPr>
          <p:nvPr>
            <p:ph type="title"/>
          </p:nvPr>
        </p:nvSpPr>
        <p:spPr>
          <a:xfrm>
            <a:off x="7491984" y="955810"/>
            <a:ext cx="4114800" cy="1244051"/>
          </a:xfrm>
        </p:spPr>
        <p:txBody>
          <a:bodyPr anchor="b">
            <a:normAutofit/>
          </a:bodyPr>
          <a:lstStyle/>
          <a:p>
            <a:r>
              <a:rPr lang="en-US" sz="2200"/>
              <a:t>Collaborations with Major Brands Like Goodyear, Bridgestone Firestone, and Continental Tire</a:t>
            </a:r>
          </a:p>
        </p:txBody>
      </p:sp>
      <p:pic>
        <p:nvPicPr>
          <p:cNvPr id="8" name="Content Placeholder 7" descr="Industrial tire manufacturing molds and service collaboration in tire production">
            <a:extLst>
              <a:ext uri="{FF2B5EF4-FFF2-40B4-BE49-F238E27FC236}">
                <a16:creationId xmlns:a16="http://schemas.microsoft.com/office/drawing/2014/main" id="{004027F3-594B-4037-A9E0-37A0747F57E1}"/>
              </a:ext>
            </a:extLst>
          </p:cNvPr>
          <p:cNvPicPr>
            <a:picLocks noGrp="1" noChangeAspect="1"/>
          </p:cNvPicPr>
          <p:nvPr>
            <p:ph type="pic" sz="quarter" idx="15"/>
          </p:nvPr>
        </p:nvPicPr>
        <p:blipFill>
          <a:blip r:embed="rId3"/>
          <a:srcRect l="21829" r="10431" b="-2"/>
          <a:stretch>
            <a:fillRect/>
          </a:stretch>
        </p:blipFill>
        <p:spPr>
          <a:xfrm>
            <a:off x="20" y="1"/>
            <a:ext cx="6959580" cy="6858000"/>
          </a:xfrm>
        </p:spPr>
      </p:pic>
      <p:sp>
        <p:nvSpPr>
          <p:cNvPr id="3" name="Date Placeholder 2">
            <a:extLst>
              <a:ext uri="{FF2B5EF4-FFF2-40B4-BE49-F238E27FC236}">
                <a16:creationId xmlns:a16="http://schemas.microsoft.com/office/drawing/2014/main" id="{86990CF6-276C-22C3-10E4-F70953DE7874}"/>
              </a:ext>
            </a:extLst>
          </p:cNvPr>
          <p:cNvSpPr>
            <a:spLocks noGrp="1"/>
          </p:cNvSpPr>
          <p:nvPr>
            <p:ph type="dt" sz="half" idx="16"/>
          </p:nvPr>
        </p:nvSpPr>
        <p:spPr>
          <a:xfrm>
            <a:off x="7469431" y="210114"/>
            <a:ext cx="1485900"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931FF3D7-8971-EA3B-84B5-7F7CE505508D}"/>
              </a:ext>
            </a:extLst>
          </p:cNvPr>
          <p:cNvSpPr>
            <a:spLocks noGrp="1"/>
          </p:cNvSpPr>
          <p:nvPr>
            <p:ph type="ftr" sz="quarter" idx="17"/>
          </p:nvPr>
        </p:nvSpPr>
        <p:spPr>
          <a:xfrm>
            <a:off x="9376096" y="210114"/>
            <a:ext cx="186046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FF053EE8-1012-4593-B9CC-385D08F5C8EA}"/>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8</a:t>
            </a:fld>
            <a:endParaRPr lang="en-US"/>
          </a:p>
        </p:txBody>
      </p:sp>
      <p:sp>
        <p:nvSpPr>
          <p:cNvPr id="7" name="Content Placeholder 6">
            <a:extLst>
              <a:ext uri="{FF2B5EF4-FFF2-40B4-BE49-F238E27FC236}">
                <a16:creationId xmlns:a16="http://schemas.microsoft.com/office/drawing/2014/main" id="{8C6A4CE8-CFA0-55A2-BC4D-0B7D869FEE1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91984" y="2791033"/>
            <a:ext cx="4114800" cy="3383280"/>
          </a:xfrm>
        </p:spPr>
        <p:txBody>
          <a:bodyPr>
            <a:normAutofit/>
          </a:bodyPr>
          <a:lstStyle/>
          <a:p>
            <a:pPr marL="0" indent="0">
              <a:spcBef>
                <a:spcPts val="2500"/>
              </a:spcBef>
              <a:buFont typeface="Arial" panose="020B0604020202020204" pitchFamily="34" charset="0"/>
              <a:buNone/>
            </a:pPr>
            <a:r>
              <a:rPr lang="en-US" sz="1300" b="1"/>
              <a:t>Strategic Industry Partnerships</a:t>
            </a:r>
          </a:p>
          <a:p>
            <a:pPr marL="0" lvl="1" indent="0">
              <a:buFont typeface="Arial" panose="020B0604020202020204" pitchFamily="34" charset="0"/>
              <a:buNone/>
            </a:pPr>
            <a:r>
              <a:rPr lang="en-US" sz="1300"/>
              <a:t>Crown Precision partnered with major tire brands to leverage expertise and enhance product development.</a:t>
            </a:r>
          </a:p>
          <a:p>
            <a:pPr marL="0" indent="0">
              <a:spcBef>
                <a:spcPts val="2500"/>
              </a:spcBef>
              <a:buFont typeface="Arial" panose="020B0604020202020204" pitchFamily="34" charset="0"/>
              <a:buNone/>
            </a:pPr>
            <a:r>
              <a:rPr lang="en-US" sz="1300" b="1"/>
              <a:t>Co-development of Customized Molds</a:t>
            </a:r>
          </a:p>
          <a:p>
            <a:pPr marL="0" lvl="1" indent="0">
              <a:buFont typeface="Arial" panose="020B0604020202020204" pitchFamily="34" charset="0"/>
              <a:buNone/>
            </a:pPr>
            <a:r>
              <a:rPr lang="en-US" sz="1300"/>
              <a:t>Collaborations focus on designing tailored molds to improve tire manufacturing quality and efficiency.</a:t>
            </a:r>
          </a:p>
          <a:p>
            <a:pPr marL="0" indent="0">
              <a:spcBef>
                <a:spcPts val="2500"/>
              </a:spcBef>
              <a:buFont typeface="Arial" panose="020B0604020202020204" pitchFamily="34" charset="0"/>
              <a:buNone/>
            </a:pPr>
            <a:r>
              <a:rPr lang="en-US" sz="1300" b="1"/>
              <a:t>Rapid-Response Service Agreements</a:t>
            </a:r>
          </a:p>
          <a:p>
            <a:pPr marL="0" lvl="1" indent="0">
              <a:buFont typeface="Arial" panose="020B0604020202020204" pitchFamily="34" charset="0"/>
              <a:buNone/>
            </a:pPr>
            <a:r>
              <a:rPr lang="en-US" sz="1300"/>
              <a:t>Quick and responsive service agreements reduce production lead times and enhance partner satisfaction.</a:t>
            </a:r>
          </a:p>
        </p:txBody>
      </p:sp>
    </p:spTree>
    <p:extLst>
      <p:ext uri="{BB962C8B-B14F-4D97-AF65-F5344CB8AC3E}">
        <p14:creationId xmlns:p14="http://schemas.microsoft.com/office/powerpoint/2010/main" val="2876508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1A48E-104A-A18D-6F2B-85CE2B31217D}"/>
              </a:ext>
            </a:extLst>
          </p:cNvPr>
          <p:cNvSpPr>
            <a:spLocks noGrp="1"/>
          </p:cNvSpPr>
          <p:nvPr>
            <p:ph type="title"/>
          </p:nvPr>
        </p:nvSpPr>
        <p:spPr>
          <a:xfrm>
            <a:off x="6146341" y="1005840"/>
            <a:ext cx="5098676" cy="885847"/>
          </a:xfrm>
        </p:spPr>
        <p:txBody>
          <a:bodyPr anchor="b">
            <a:normAutofit/>
          </a:bodyPr>
          <a:lstStyle/>
          <a:p>
            <a:r>
              <a:rPr lang="en-US" sz="2000"/>
              <a:t>Supporting a Global Client Base Including Pirelli, Yokohama, Toyo Tires, JK Tornel, and More</a:t>
            </a:r>
          </a:p>
        </p:txBody>
      </p:sp>
      <p:pic>
        <p:nvPicPr>
          <p:cNvPr id="8" name="Content Placeholder 7" descr="Global network connecting diverse tire manufacturers across continents representing international partnerships">
            <a:extLst>
              <a:ext uri="{FF2B5EF4-FFF2-40B4-BE49-F238E27FC236}">
                <a16:creationId xmlns:a16="http://schemas.microsoft.com/office/drawing/2014/main" id="{B9BE921A-8DE1-46F0-B40B-DA88CC3EF710}"/>
              </a:ext>
            </a:extLst>
          </p:cNvPr>
          <p:cNvPicPr>
            <a:picLocks noGrp="1" noChangeAspect="1"/>
          </p:cNvPicPr>
          <p:nvPr>
            <p:ph type="pic" sz="quarter" idx="15"/>
          </p:nvPr>
        </p:nvPicPr>
        <p:blipFill>
          <a:blip r:embed="rId3"/>
          <a:srcRect l="20910" r="24313" b="-1"/>
          <a:stretch>
            <a:fillRect/>
          </a:stretch>
        </p:blipFill>
        <p:spPr>
          <a:xfrm>
            <a:off x="1" y="10"/>
            <a:ext cx="5627801" cy="6857991"/>
          </a:xfrm>
        </p:spPr>
      </p:pic>
      <p:sp>
        <p:nvSpPr>
          <p:cNvPr id="3" name="Date Placeholder 2">
            <a:extLst>
              <a:ext uri="{FF2B5EF4-FFF2-40B4-BE49-F238E27FC236}">
                <a16:creationId xmlns:a16="http://schemas.microsoft.com/office/drawing/2014/main" id="{AA3A0B5E-8FC6-23AC-0AA4-B3ACDFF43FA3}"/>
              </a:ext>
            </a:extLst>
          </p:cNvPr>
          <p:cNvSpPr>
            <a:spLocks noGrp="1"/>
          </p:cNvSpPr>
          <p:nvPr>
            <p:ph type="dt" sz="half" idx="16"/>
          </p:nvPr>
        </p:nvSpPr>
        <p:spPr>
          <a:xfrm>
            <a:off x="301752" y="210114"/>
            <a:ext cx="1759288"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031F89BC-66F0-C589-0C07-E643564F6436}"/>
              </a:ext>
            </a:extLst>
          </p:cNvPr>
          <p:cNvSpPr>
            <a:spLocks noGrp="1"/>
          </p:cNvSpPr>
          <p:nvPr>
            <p:ph type="ftr" sz="quarter" idx="17"/>
          </p:nvPr>
        </p:nvSpPr>
        <p:spPr>
          <a:xfrm>
            <a:off x="6146341" y="210114"/>
            <a:ext cx="250928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3C0F4888-0964-E973-73DC-91547A22CEE5}"/>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9</a:t>
            </a:fld>
            <a:endParaRPr lang="en-US"/>
          </a:p>
        </p:txBody>
      </p:sp>
      <p:sp>
        <p:nvSpPr>
          <p:cNvPr id="7" name="Content Placeholder 6">
            <a:extLst>
              <a:ext uri="{FF2B5EF4-FFF2-40B4-BE49-F238E27FC236}">
                <a16:creationId xmlns:a16="http://schemas.microsoft.com/office/drawing/2014/main" id="{774F000D-E553-F8BE-A8D6-B288071ADB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55767" y="2047285"/>
            <a:ext cx="5098675" cy="4048715"/>
          </a:xfrm>
        </p:spPr>
        <p:txBody>
          <a:bodyPr>
            <a:normAutofit/>
          </a:bodyPr>
          <a:lstStyle/>
          <a:p>
            <a:pPr marL="0" indent="0">
              <a:spcBef>
                <a:spcPts val="2500"/>
              </a:spcBef>
              <a:buFont typeface="Arial" panose="020B0604020202020204" pitchFamily="34" charset="0"/>
              <a:buNone/>
            </a:pPr>
            <a:r>
              <a:rPr lang="en-US" b="1"/>
              <a:t>Diverse Global Clientele</a:t>
            </a:r>
          </a:p>
          <a:p>
            <a:pPr marL="0" lvl="1" indent="0">
              <a:buFont typeface="Arial" panose="020B0604020202020204" pitchFamily="34" charset="0"/>
              <a:buNone/>
            </a:pPr>
            <a:r>
              <a:t>Serving clients on five continents including premium and mid-tier tire manufacturers showcases Crown Precision's broad market reach.</a:t>
            </a:r>
            <a:endParaRPr lang="en-US"/>
          </a:p>
          <a:p>
            <a:pPr marL="0" indent="0">
              <a:spcBef>
                <a:spcPts val="2500"/>
              </a:spcBef>
              <a:buFont typeface="Arial" panose="020B0604020202020204" pitchFamily="34" charset="0"/>
              <a:buNone/>
            </a:pPr>
            <a:r>
              <a:rPr lang="en-US" b="1"/>
              <a:t>Handling Varied Standards</a:t>
            </a:r>
          </a:p>
          <a:p>
            <a:pPr marL="0" lvl="1" indent="0">
              <a:buFont typeface="Arial" panose="020B0604020202020204" pitchFamily="34" charset="0"/>
              <a:buNone/>
            </a:pPr>
            <a:r>
              <a:t>Ability to manage different standards and customized requirements across markets demonstrates operational flexibility.</a:t>
            </a:r>
            <a:endParaRPr lang="en-US"/>
          </a:p>
          <a:p>
            <a:pPr marL="0" indent="0">
              <a:spcBef>
                <a:spcPts val="2500"/>
              </a:spcBef>
              <a:buFont typeface="Arial" panose="020B0604020202020204" pitchFamily="34" charset="0"/>
              <a:buNone/>
            </a:pPr>
            <a:r>
              <a:rPr lang="en-US" b="1"/>
              <a:t>Scalability and Adaptability</a:t>
            </a:r>
          </a:p>
          <a:p>
            <a:pPr marL="0" lvl="1" indent="0">
              <a:buFont typeface="Arial" panose="020B0604020202020204" pitchFamily="34" charset="0"/>
              <a:buNone/>
            </a:pPr>
            <a:r>
              <a:t>Scalable services and adaptability to client needs reinforce their position in a competitive global industry.</a:t>
            </a:r>
            <a:endParaRPr lang="en-US"/>
          </a:p>
        </p:txBody>
      </p:sp>
    </p:spTree>
    <p:extLst>
      <p:ext uri="{BB962C8B-B14F-4D97-AF65-F5344CB8AC3E}">
        <p14:creationId xmlns:p14="http://schemas.microsoft.com/office/powerpoint/2010/main" val="1495443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D581B-2DE6-CCD4-3E9B-03A81382F858}"/>
              </a:ext>
            </a:extLst>
          </p:cNvPr>
          <p:cNvSpPr>
            <a:spLocks noGrp="1"/>
          </p:cNvSpPr>
          <p:nvPr>
            <p:ph type="title"/>
          </p:nvPr>
        </p:nvSpPr>
        <p:spPr>
          <a:xfrm>
            <a:off x="5210016" y="957435"/>
            <a:ext cx="6400800" cy="885847"/>
          </a:xfrm>
        </p:spPr>
        <p:txBody>
          <a:bodyPr anchor="b">
            <a:normAutofit/>
          </a:bodyPr>
          <a:lstStyle/>
          <a:p>
            <a:r>
              <a:rPr lang="en-US"/>
              <a:t>Impact of Partnerships on the Tire Industry</a:t>
            </a:r>
          </a:p>
        </p:txBody>
      </p:sp>
      <p:pic>
        <p:nvPicPr>
          <p:cNvPr id="8" name="Content Placeholder 7" descr="Tire manufacturing facility showing mold refurbishment and collaborative teamwork">
            <a:extLst>
              <a:ext uri="{FF2B5EF4-FFF2-40B4-BE49-F238E27FC236}">
                <a16:creationId xmlns:a16="http://schemas.microsoft.com/office/drawing/2014/main" id="{5A15FA77-F996-4829-B071-7BD9156B3067}"/>
              </a:ext>
            </a:extLst>
          </p:cNvPr>
          <p:cNvPicPr>
            <a:picLocks noGrp="1" noChangeAspect="1"/>
          </p:cNvPicPr>
          <p:nvPr>
            <p:ph type="pic" sz="quarter" idx="15"/>
          </p:nvPr>
        </p:nvPicPr>
        <p:blipFill>
          <a:blip r:embed="rId3"/>
          <a:srcRect l="24137" r="30135" b="-1"/>
          <a:stretch>
            <a:fillRect/>
          </a:stretch>
        </p:blipFill>
        <p:spPr>
          <a:xfrm>
            <a:off x="2" y="10"/>
            <a:ext cx="4698090" cy="6857991"/>
          </a:xfrm>
        </p:spPr>
      </p:pic>
      <p:sp>
        <p:nvSpPr>
          <p:cNvPr id="3" name="Date Placeholder 2">
            <a:extLst>
              <a:ext uri="{FF2B5EF4-FFF2-40B4-BE49-F238E27FC236}">
                <a16:creationId xmlns:a16="http://schemas.microsoft.com/office/drawing/2014/main" id="{158A7A35-7AB8-3805-5A37-666CC9466CF1}"/>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E16C8157-E107-4FB5-9403-A44E662D7C7D}"/>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8F07C601-CDBA-C712-3E79-1C953DA6179A}"/>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10</a:t>
            </a:fld>
            <a:endParaRPr lang="en-US"/>
          </a:p>
        </p:txBody>
      </p:sp>
      <p:sp>
        <p:nvSpPr>
          <p:cNvPr id="7" name="Content Placeholder 6">
            <a:extLst>
              <a:ext uri="{FF2B5EF4-FFF2-40B4-BE49-F238E27FC236}">
                <a16:creationId xmlns:a16="http://schemas.microsoft.com/office/drawing/2014/main" id="{5538B275-AA2E-EB1A-D7F1-2A193E62552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indent="0">
              <a:spcBef>
                <a:spcPts val="2500"/>
              </a:spcBef>
              <a:buFont typeface="Arial" panose="020B0604020202020204" pitchFamily="34" charset="0"/>
              <a:buNone/>
            </a:pPr>
            <a:r>
              <a:rPr lang="en-US" b="1"/>
              <a:t>Advanced Mold Refurbishment</a:t>
            </a:r>
          </a:p>
          <a:p>
            <a:pPr marL="0" lvl="1" indent="0">
              <a:buFont typeface="Arial" panose="020B0604020202020204" pitchFamily="34" charset="0"/>
              <a:buNone/>
            </a:pPr>
            <a:r>
              <a:t>Strategic alliances have driven widespread use of advanced mold refurbishment techniques in the tire industry.</a:t>
            </a:r>
            <a:endParaRPr lang="en-US"/>
          </a:p>
          <a:p>
            <a:pPr marL="0" indent="0">
              <a:spcBef>
                <a:spcPts val="2500"/>
              </a:spcBef>
              <a:buFont typeface="Arial" panose="020B0604020202020204" pitchFamily="34" charset="0"/>
              <a:buNone/>
            </a:pPr>
            <a:r>
              <a:rPr lang="en-US" b="1"/>
              <a:t>Improved Mold Lifespan</a:t>
            </a:r>
          </a:p>
          <a:p>
            <a:pPr marL="0" lvl="1" indent="0">
              <a:buFont typeface="Arial" panose="020B0604020202020204" pitchFamily="34" charset="0"/>
              <a:buNone/>
            </a:pPr>
            <a:r>
              <a:t>These techniques have increased mold lifespan by an average of 15%, enhancing production efficiency.</a:t>
            </a:r>
            <a:endParaRPr lang="en-US"/>
          </a:p>
          <a:p>
            <a:pPr marL="0" indent="0">
              <a:spcBef>
                <a:spcPts val="2500"/>
              </a:spcBef>
              <a:buFont typeface="Arial" panose="020B0604020202020204" pitchFamily="34" charset="0"/>
              <a:buNone/>
            </a:pPr>
            <a:r>
              <a:rPr lang="en-US" b="1"/>
              <a:t>Reduced Tire Defects</a:t>
            </a:r>
          </a:p>
          <a:p>
            <a:pPr marL="0" lvl="1" indent="0">
              <a:buFont typeface="Arial" panose="020B0604020202020204" pitchFamily="34" charset="0"/>
              <a:buNone/>
            </a:pPr>
            <a:r>
              <a:t>Tire production defects have decreased by approximately 10%, improving overall product quality.</a:t>
            </a:r>
            <a:endParaRPr lang="en-US"/>
          </a:p>
          <a:p>
            <a:pPr marL="0" indent="0">
              <a:spcBef>
                <a:spcPts val="2500"/>
              </a:spcBef>
              <a:buFont typeface="Arial" panose="020B0604020202020204" pitchFamily="34" charset="0"/>
              <a:buNone/>
            </a:pPr>
            <a:r>
              <a:rPr lang="en-US" b="1"/>
              <a:t>Collaborative Supplier Integration</a:t>
            </a:r>
          </a:p>
          <a:p>
            <a:pPr marL="0" lvl="1" indent="0">
              <a:buFont typeface="Arial" panose="020B0604020202020204" pitchFamily="34" charset="0"/>
              <a:buNone/>
            </a:pPr>
            <a:r>
              <a:t>Crown Precision exemplifies effective collaboration by integrating specialized suppliers into the tire value chain.</a:t>
            </a:r>
            <a:endParaRPr lang="en-US"/>
          </a:p>
        </p:txBody>
      </p:sp>
    </p:spTree>
    <p:extLst>
      <p:ext uri="{BB962C8B-B14F-4D97-AF65-F5344CB8AC3E}">
        <p14:creationId xmlns:p14="http://schemas.microsoft.com/office/powerpoint/2010/main" val="3689114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0CF885-CD36-4FF8-0E33-4E3AFDD2C4FD}"/>
              </a:ext>
            </a:extLst>
          </p:cNvPr>
          <p:cNvSpPr>
            <a:spLocks noGrp="1"/>
          </p:cNvSpPr>
          <p:nvPr>
            <p:ph type="title"/>
          </p:nvPr>
        </p:nvSpPr>
        <p:spPr>
          <a:xfrm>
            <a:off x="3018499" y="952500"/>
            <a:ext cx="8887299" cy="5636798"/>
          </a:xfrm>
        </p:spPr>
        <p:txBody>
          <a:bodyPr anchor="b">
            <a:normAutofit/>
          </a:bodyPr>
          <a:lstStyle/>
          <a:p>
            <a:r>
              <a:rPr lang="en-US"/>
              <a:t>Comprehensive Tire Mold Services</a:t>
            </a:r>
          </a:p>
        </p:txBody>
      </p:sp>
      <p:sp>
        <p:nvSpPr>
          <p:cNvPr id="5" name="Date Placeholder 4">
            <a:extLst>
              <a:ext uri="{FF2B5EF4-FFF2-40B4-BE49-F238E27FC236}">
                <a16:creationId xmlns:a16="http://schemas.microsoft.com/office/drawing/2014/main" id="{BB5320B1-AA74-AD0E-DBC1-9F4A18937FFA}"/>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3/2/2026</a:t>
            </a:fld>
            <a:endParaRPr lang="en-US"/>
          </a:p>
        </p:txBody>
      </p:sp>
      <p:sp>
        <p:nvSpPr>
          <p:cNvPr id="6" name="Footer Placeholder 5">
            <a:extLst>
              <a:ext uri="{FF2B5EF4-FFF2-40B4-BE49-F238E27FC236}">
                <a16:creationId xmlns:a16="http://schemas.microsoft.com/office/drawing/2014/main" id="{CB726336-86B8-A524-3A87-AADCC53A5EBB}"/>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DB70AF05-7636-0449-6230-1D4F7FCD4918}"/>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11</a:t>
            </a:fld>
            <a:endParaRPr lang="en-US"/>
          </a:p>
        </p:txBody>
      </p:sp>
    </p:spTree>
    <p:extLst>
      <p:ext uri="{BB962C8B-B14F-4D97-AF65-F5344CB8AC3E}">
        <p14:creationId xmlns:p14="http://schemas.microsoft.com/office/powerpoint/2010/main" val="553060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3E3AE-91CF-6890-685C-57D0E1B39378}"/>
              </a:ext>
            </a:extLst>
          </p:cNvPr>
          <p:cNvSpPr>
            <a:spLocks noGrp="1"/>
          </p:cNvSpPr>
          <p:nvPr>
            <p:ph type="title"/>
          </p:nvPr>
        </p:nvSpPr>
        <p:spPr>
          <a:xfrm>
            <a:off x="8159103" y="952500"/>
            <a:ext cx="3239262" cy="1582882"/>
          </a:xfrm>
        </p:spPr>
        <p:txBody>
          <a:bodyPr anchor="b">
            <a:normAutofit/>
          </a:bodyPr>
          <a:lstStyle/>
          <a:p>
            <a:r>
              <a:rPr lang="en-US"/>
              <a:t>Refurbishment, Repair, and Modification Processes</a:t>
            </a:r>
          </a:p>
        </p:txBody>
      </p:sp>
      <p:pic>
        <p:nvPicPr>
          <p:cNvPr id="8" name="Content Placeholder 7" descr="Industrial machinery performing CNC machining, laser welding, and precision grinding on mold components">
            <a:extLst>
              <a:ext uri="{FF2B5EF4-FFF2-40B4-BE49-F238E27FC236}">
                <a16:creationId xmlns:a16="http://schemas.microsoft.com/office/drawing/2014/main" id="{805C4397-5241-44D0-8287-101B7FFD502A}"/>
              </a:ext>
            </a:extLst>
          </p:cNvPr>
          <p:cNvPicPr>
            <a:picLocks noGrp="1" noChangeAspect="1"/>
          </p:cNvPicPr>
          <p:nvPr>
            <p:ph type="pic" sz="quarter" idx="15"/>
          </p:nvPr>
        </p:nvPicPr>
        <p:blipFill>
          <a:blip r:embed="rId3"/>
          <a:srcRect l="18774" r="7059" b="-1"/>
          <a:stretch>
            <a:fillRect/>
          </a:stretch>
        </p:blipFill>
        <p:spPr>
          <a:xfrm>
            <a:off x="20" y="10"/>
            <a:ext cx="7619980" cy="6857991"/>
          </a:xfrm>
        </p:spPr>
      </p:pic>
      <p:sp>
        <p:nvSpPr>
          <p:cNvPr id="3" name="Date Placeholder 2">
            <a:extLst>
              <a:ext uri="{FF2B5EF4-FFF2-40B4-BE49-F238E27FC236}">
                <a16:creationId xmlns:a16="http://schemas.microsoft.com/office/drawing/2014/main" id="{33C9921D-620B-1840-F6DD-0672A812E02D}"/>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A8889714-BE18-F966-340D-D300B4C653C9}"/>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3EA5387F-42B3-EEBE-7782-517B7423BBCB}"/>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12</a:t>
            </a:fld>
            <a:endParaRPr lang="en-US"/>
          </a:p>
        </p:txBody>
      </p:sp>
      <p:sp>
        <p:nvSpPr>
          <p:cNvPr id="7" name="Content Placeholder 6">
            <a:extLst>
              <a:ext uri="{FF2B5EF4-FFF2-40B4-BE49-F238E27FC236}">
                <a16:creationId xmlns:a16="http://schemas.microsoft.com/office/drawing/2014/main" id="{69369B0C-0B30-89B6-FD21-6AE32C8B9BE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000" b="1"/>
              <a:t>Advanced Refurbishment Techniques</a:t>
            </a:r>
          </a:p>
          <a:p>
            <a:pPr marL="0" lvl="1" indent="0">
              <a:lnSpc>
                <a:spcPct val="110000"/>
              </a:lnSpc>
              <a:buFont typeface="Arial" panose="020B0604020202020204" pitchFamily="34" charset="0"/>
              <a:buNone/>
            </a:pPr>
            <a:r>
              <a:rPr lang="en-US" sz="1000"/>
              <a:t>Expert use of CNC machining, laser welding, and precision grinding extends mold operational life effectively.</a:t>
            </a:r>
          </a:p>
          <a:p>
            <a:pPr marL="0" indent="0">
              <a:lnSpc>
                <a:spcPct val="110000"/>
              </a:lnSpc>
              <a:spcBef>
                <a:spcPts val="2500"/>
              </a:spcBef>
              <a:buFont typeface="Arial" panose="020B0604020202020204" pitchFamily="34" charset="0"/>
              <a:buNone/>
            </a:pPr>
            <a:r>
              <a:rPr lang="en-US" sz="1000" b="1"/>
              <a:t>Efficient Repair Processes</a:t>
            </a:r>
          </a:p>
          <a:p>
            <a:pPr marL="0" lvl="1" indent="0">
              <a:lnSpc>
                <a:spcPct val="110000"/>
              </a:lnSpc>
              <a:buFont typeface="Arial" panose="020B0604020202020204" pitchFamily="34" charset="0"/>
              <a:buNone/>
            </a:pPr>
            <a:r>
              <a:rPr lang="en-US" sz="1000"/>
              <a:t>Repair methods reduce mold downtime, ensuring faster return to production and operational continuity.</a:t>
            </a:r>
          </a:p>
          <a:p>
            <a:pPr marL="0" indent="0">
              <a:lnSpc>
                <a:spcPct val="110000"/>
              </a:lnSpc>
              <a:spcBef>
                <a:spcPts val="2500"/>
              </a:spcBef>
              <a:buFont typeface="Arial" panose="020B0604020202020204" pitchFamily="34" charset="0"/>
              <a:buNone/>
            </a:pPr>
            <a:r>
              <a:rPr lang="en-US" sz="1000" b="1"/>
              <a:t>Cost-Effective Modifications</a:t>
            </a:r>
          </a:p>
          <a:p>
            <a:pPr marL="0" lvl="1" indent="0">
              <a:lnSpc>
                <a:spcPct val="110000"/>
              </a:lnSpc>
              <a:buFont typeface="Arial" panose="020B0604020202020204" pitchFamily="34" charset="0"/>
              <a:buNone/>
            </a:pPr>
            <a:r>
              <a:rPr lang="en-US" sz="1000"/>
              <a:t>Modification services adapt molds to new tire designs without full replacement, reducing costs by up to 30%.</a:t>
            </a:r>
          </a:p>
        </p:txBody>
      </p:sp>
    </p:spTree>
    <p:extLst>
      <p:ext uri="{BB962C8B-B14F-4D97-AF65-F5344CB8AC3E}">
        <p14:creationId xmlns:p14="http://schemas.microsoft.com/office/powerpoint/2010/main" val="26950647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43026-17E5-B9D8-CED9-1D943C8D5B46}"/>
              </a:ext>
            </a:extLst>
          </p:cNvPr>
          <p:cNvSpPr>
            <a:spLocks noGrp="1"/>
          </p:cNvSpPr>
          <p:nvPr>
            <p:ph type="title"/>
          </p:nvPr>
        </p:nvSpPr>
        <p:spPr>
          <a:xfrm>
            <a:off x="8159103" y="952500"/>
            <a:ext cx="3239262" cy="1582882"/>
          </a:xfrm>
        </p:spPr>
        <p:txBody>
          <a:bodyPr anchor="b">
            <a:normAutofit/>
          </a:bodyPr>
          <a:lstStyle/>
          <a:p>
            <a:r>
              <a:rPr lang="en-US"/>
              <a:t>Cleaning, Certification, and Quality Assurance</a:t>
            </a:r>
          </a:p>
        </p:txBody>
      </p:sp>
      <p:pic>
        <p:nvPicPr>
          <p:cNvPr id="8" name="Content Placeholder 7" descr="Ultrasonic cleaning equipment, certification documents, and quality assurance process in industrial setting">
            <a:extLst>
              <a:ext uri="{FF2B5EF4-FFF2-40B4-BE49-F238E27FC236}">
                <a16:creationId xmlns:a16="http://schemas.microsoft.com/office/drawing/2014/main" id="{B7F87494-B7BE-46A5-860B-D31DA338BE1E}"/>
              </a:ext>
            </a:extLst>
          </p:cNvPr>
          <p:cNvPicPr>
            <a:picLocks noGrp="1" noChangeAspect="1"/>
          </p:cNvPicPr>
          <p:nvPr>
            <p:ph type="pic" sz="quarter" idx="15"/>
          </p:nvPr>
        </p:nvPicPr>
        <p:blipFill>
          <a:blip r:embed="rId3"/>
          <a:srcRect l="20875" r="4957" b="-1"/>
          <a:stretch>
            <a:fillRect/>
          </a:stretch>
        </p:blipFill>
        <p:spPr>
          <a:xfrm>
            <a:off x="20" y="10"/>
            <a:ext cx="7619980" cy="6857991"/>
          </a:xfrm>
        </p:spPr>
      </p:pic>
      <p:sp>
        <p:nvSpPr>
          <p:cNvPr id="3" name="Date Placeholder 2">
            <a:extLst>
              <a:ext uri="{FF2B5EF4-FFF2-40B4-BE49-F238E27FC236}">
                <a16:creationId xmlns:a16="http://schemas.microsoft.com/office/drawing/2014/main" id="{7F4A5571-9E88-948A-0FD4-174EFA62B316}"/>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E563BC64-CC0B-E6E3-70DA-6DE30D6C14D6}"/>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51E2E26E-B62C-AC22-A424-0AE02B722FCE}"/>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13</a:t>
            </a:fld>
            <a:endParaRPr lang="en-US"/>
          </a:p>
        </p:txBody>
      </p:sp>
      <p:sp>
        <p:nvSpPr>
          <p:cNvPr id="7" name="Content Placeholder 6">
            <a:extLst>
              <a:ext uri="{FF2B5EF4-FFF2-40B4-BE49-F238E27FC236}">
                <a16:creationId xmlns:a16="http://schemas.microsoft.com/office/drawing/2014/main" id="{59B6E925-40D1-8BEA-0701-F9388A4C03F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100" b="1"/>
              <a:t>Advanced Cleaning Methods</a:t>
            </a:r>
          </a:p>
          <a:p>
            <a:pPr marL="0" lvl="1" indent="0">
              <a:lnSpc>
                <a:spcPct val="110000"/>
              </a:lnSpc>
              <a:buFont typeface="Arial" panose="020B0604020202020204" pitchFamily="34" charset="0"/>
              <a:buNone/>
            </a:pPr>
            <a:r>
              <a:rPr lang="en-US" sz="1100"/>
              <a:t>Ultrasonic cleaning and eco-friendly solvents ensure molds are thoroughly contaminant-free before certification.</a:t>
            </a:r>
          </a:p>
          <a:p>
            <a:pPr marL="0" indent="0">
              <a:lnSpc>
                <a:spcPct val="110000"/>
              </a:lnSpc>
              <a:spcBef>
                <a:spcPts val="2500"/>
              </a:spcBef>
              <a:buFont typeface="Arial" panose="020B0604020202020204" pitchFamily="34" charset="0"/>
              <a:buNone/>
            </a:pPr>
            <a:r>
              <a:rPr lang="en-US" sz="1100" b="1"/>
              <a:t>ISO 9001 Quality Standards</a:t>
            </a:r>
          </a:p>
          <a:p>
            <a:pPr marL="0" lvl="1" indent="0">
              <a:lnSpc>
                <a:spcPct val="110000"/>
              </a:lnSpc>
              <a:buFont typeface="Arial" panose="020B0604020202020204" pitchFamily="34" charset="0"/>
              <a:buNone/>
            </a:pPr>
            <a:r>
              <a:rPr lang="en-US" sz="1100"/>
              <a:t>Strict quality assurance protocols comply with ISO 9001 standards for consistent product quality.</a:t>
            </a:r>
          </a:p>
          <a:p>
            <a:pPr marL="0" indent="0">
              <a:lnSpc>
                <a:spcPct val="110000"/>
              </a:lnSpc>
              <a:spcBef>
                <a:spcPts val="2500"/>
              </a:spcBef>
              <a:buFont typeface="Arial" panose="020B0604020202020204" pitchFamily="34" charset="0"/>
              <a:buNone/>
            </a:pPr>
            <a:r>
              <a:rPr lang="en-US" sz="1100" b="1"/>
              <a:t>Traceability and Documentation</a:t>
            </a:r>
          </a:p>
          <a:p>
            <a:pPr marL="0" lvl="1" indent="0">
              <a:lnSpc>
                <a:spcPct val="110000"/>
              </a:lnSpc>
              <a:buFont typeface="Arial" panose="020B0604020202020204" pitchFamily="34" charset="0"/>
              <a:buNone/>
            </a:pPr>
            <a:r>
              <a:rPr lang="en-US" sz="1100"/>
              <a:t>Traceability and thorough documentation maintain mold performance and ensure regulatory compliance.</a:t>
            </a:r>
          </a:p>
        </p:txBody>
      </p:sp>
    </p:spTree>
    <p:extLst>
      <p:ext uri="{BB962C8B-B14F-4D97-AF65-F5344CB8AC3E}">
        <p14:creationId xmlns:p14="http://schemas.microsoft.com/office/powerpoint/2010/main" val="23576606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B25BF-1F76-E02F-A639-9CE803202CB2}"/>
              </a:ext>
            </a:extLst>
          </p:cNvPr>
          <p:cNvSpPr>
            <a:spLocks noGrp="1"/>
          </p:cNvSpPr>
          <p:nvPr>
            <p:ph type="title"/>
          </p:nvPr>
        </p:nvSpPr>
        <p:spPr>
          <a:xfrm>
            <a:off x="8159103" y="952500"/>
            <a:ext cx="3239262" cy="1582882"/>
          </a:xfrm>
        </p:spPr>
        <p:txBody>
          <a:bodyPr anchor="b">
            <a:normAutofit/>
          </a:bodyPr>
          <a:lstStyle/>
          <a:p>
            <a:r>
              <a:rPr lang="en-US"/>
              <a:t>Ensuring Optimal Mold Readiness and Performance</a:t>
            </a:r>
          </a:p>
        </p:txBody>
      </p:sp>
      <p:pic>
        <p:nvPicPr>
          <p:cNvPr id="8" name="Content Placeholder 7" descr="3D scanning and nondestructive testing of industrial molds for tire production optimization">
            <a:extLst>
              <a:ext uri="{FF2B5EF4-FFF2-40B4-BE49-F238E27FC236}">
                <a16:creationId xmlns:a16="http://schemas.microsoft.com/office/drawing/2014/main" id="{608976C8-B153-4625-A09D-5E85C629D737}"/>
              </a:ext>
            </a:extLst>
          </p:cNvPr>
          <p:cNvPicPr>
            <a:picLocks noGrp="1" noChangeAspect="1"/>
          </p:cNvPicPr>
          <p:nvPr>
            <p:ph type="pic" sz="quarter" idx="15"/>
          </p:nvPr>
        </p:nvPicPr>
        <p:blipFill>
          <a:blip r:embed="rId3"/>
          <a:srcRect r="25832" b="-1"/>
          <a:stretch>
            <a:fillRect/>
          </a:stretch>
        </p:blipFill>
        <p:spPr>
          <a:xfrm>
            <a:off x="20" y="10"/>
            <a:ext cx="7619980" cy="6857991"/>
          </a:xfrm>
        </p:spPr>
      </p:pic>
      <p:sp>
        <p:nvSpPr>
          <p:cNvPr id="3" name="Date Placeholder 2">
            <a:extLst>
              <a:ext uri="{FF2B5EF4-FFF2-40B4-BE49-F238E27FC236}">
                <a16:creationId xmlns:a16="http://schemas.microsoft.com/office/drawing/2014/main" id="{A9069A60-CCF6-E315-6872-46B3961FF7C6}"/>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10D961C9-66E6-904A-F734-2D5263CF853A}"/>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07037C90-6B4B-9745-2AA7-380157C5D6B2}"/>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14</a:t>
            </a:fld>
            <a:endParaRPr lang="en-US"/>
          </a:p>
        </p:txBody>
      </p:sp>
      <p:sp>
        <p:nvSpPr>
          <p:cNvPr id="7" name="Content Placeholder 6">
            <a:extLst>
              <a:ext uri="{FF2B5EF4-FFF2-40B4-BE49-F238E27FC236}">
                <a16:creationId xmlns:a16="http://schemas.microsoft.com/office/drawing/2014/main" id="{7C56B79F-7A59-FCB7-3A98-86612294B28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000" b="1"/>
              <a:t>Routine Mold Inspections</a:t>
            </a:r>
          </a:p>
          <a:p>
            <a:pPr marL="0" lvl="1" indent="0">
              <a:lnSpc>
                <a:spcPct val="110000"/>
              </a:lnSpc>
              <a:buFont typeface="Arial" panose="020B0604020202020204" pitchFamily="34" charset="0"/>
              <a:buNone/>
            </a:pPr>
            <a:r>
              <a:rPr lang="en-US" sz="1000"/>
              <a:t>Regular 3D scanning and nondestructive testing ensure molds are optimized and maintain high quality for tire production.</a:t>
            </a:r>
          </a:p>
          <a:p>
            <a:pPr marL="0" indent="0">
              <a:lnSpc>
                <a:spcPct val="110000"/>
              </a:lnSpc>
              <a:spcBef>
                <a:spcPts val="2500"/>
              </a:spcBef>
              <a:buFont typeface="Arial" panose="020B0604020202020204" pitchFamily="34" charset="0"/>
              <a:buNone/>
            </a:pPr>
            <a:r>
              <a:rPr lang="en-US" sz="1000" b="1"/>
              <a:t>Proactive Maintenance Schedules</a:t>
            </a:r>
          </a:p>
          <a:p>
            <a:pPr marL="0" lvl="1" indent="0">
              <a:lnSpc>
                <a:spcPct val="110000"/>
              </a:lnSpc>
              <a:buFont typeface="Arial" panose="020B0604020202020204" pitchFamily="34" charset="0"/>
              <a:buNone/>
            </a:pPr>
            <a:r>
              <a:rPr lang="en-US" sz="1000"/>
              <a:t>Scheduled maintenance reduces unexpected mold failures, enhancing uptime and consistent production performance.</a:t>
            </a:r>
          </a:p>
          <a:p>
            <a:pPr marL="0" indent="0">
              <a:lnSpc>
                <a:spcPct val="110000"/>
              </a:lnSpc>
              <a:spcBef>
                <a:spcPts val="2500"/>
              </a:spcBef>
              <a:buFont typeface="Arial" panose="020B0604020202020204" pitchFamily="34" charset="0"/>
              <a:buNone/>
            </a:pPr>
            <a:r>
              <a:rPr lang="en-US" sz="1000" b="1"/>
              <a:t>Performance Analytics Impact</a:t>
            </a:r>
          </a:p>
          <a:p>
            <a:pPr marL="0" lvl="1" indent="0">
              <a:lnSpc>
                <a:spcPct val="110000"/>
              </a:lnSpc>
              <a:buFont typeface="Arial" panose="020B0604020202020204" pitchFamily="34" charset="0"/>
              <a:buNone/>
            </a:pPr>
            <a:r>
              <a:rPr lang="en-US" sz="1000"/>
              <a:t>Use of performance data analytics helps improve mold readiness and increases overall production yields.</a:t>
            </a:r>
          </a:p>
        </p:txBody>
      </p:sp>
    </p:spTree>
    <p:extLst>
      <p:ext uri="{BB962C8B-B14F-4D97-AF65-F5344CB8AC3E}">
        <p14:creationId xmlns:p14="http://schemas.microsoft.com/office/powerpoint/2010/main" val="3178408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E12A91-B8EF-03E9-84AF-15785CA5C971}"/>
              </a:ext>
            </a:extLst>
          </p:cNvPr>
          <p:cNvSpPr>
            <a:spLocks noGrp="1"/>
          </p:cNvSpPr>
          <p:nvPr>
            <p:ph type="title"/>
          </p:nvPr>
        </p:nvSpPr>
        <p:spPr>
          <a:xfrm>
            <a:off x="3018499" y="952500"/>
            <a:ext cx="8887299" cy="5636798"/>
          </a:xfrm>
        </p:spPr>
        <p:txBody>
          <a:bodyPr anchor="b">
            <a:normAutofit/>
          </a:bodyPr>
          <a:lstStyle/>
          <a:p>
            <a:r>
              <a:rPr lang="en-US"/>
              <a:t>Value Delivered: Cost Savings, Quality Improvement, and Market Competitiveness</a:t>
            </a:r>
          </a:p>
        </p:txBody>
      </p:sp>
      <p:sp>
        <p:nvSpPr>
          <p:cNvPr id="5" name="Date Placeholder 4">
            <a:extLst>
              <a:ext uri="{FF2B5EF4-FFF2-40B4-BE49-F238E27FC236}">
                <a16:creationId xmlns:a16="http://schemas.microsoft.com/office/drawing/2014/main" id="{63A8C24D-A44F-94AE-32A6-6F19E7285CEA}"/>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3/2/2026</a:t>
            </a:fld>
            <a:endParaRPr lang="en-US"/>
          </a:p>
        </p:txBody>
      </p:sp>
      <p:sp>
        <p:nvSpPr>
          <p:cNvPr id="6" name="Footer Placeholder 5">
            <a:extLst>
              <a:ext uri="{FF2B5EF4-FFF2-40B4-BE49-F238E27FC236}">
                <a16:creationId xmlns:a16="http://schemas.microsoft.com/office/drawing/2014/main" id="{A9E0A793-F99E-4CFD-E730-20715474BA61}"/>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080AD7B7-9EAB-DB53-F132-9B551C56BC20}"/>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15</a:t>
            </a:fld>
            <a:endParaRPr lang="en-US"/>
          </a:p>
        </p:txBody>
      </p:sp>
    </p:spTree>
    <p:extLst>
      <p:ext uri="{BB962C8B-B14F-4D97-AF65-F5344CB8AC3E}">
        <p14:creationId xmlns:p14="http://schemas.microsoft.com/office/powerpoint/2010/main" val="24073762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4C0A9-0BE0-24BC-7DE7-3DC13A42EBD2}"/>
              </a:ext>
            </a:extLst>
          </p:cNvPr>
          <p:cNvSpPr>
            <a:spLocks noGrp="1"/>
          </p:cNvSpPr>
          <p:nvPr>
            <p:ph type="title"/>
          </p:nvPr>
        </p:nvSpPr>
        <p:spPr>
          <a:xfrm>
            <a:off x="8159103" y="952500"/>
            <a:ext cx="3239262" cy="1582882"/>
          </a:xfrm>
        </p:spPr>
        <p:txBody>
          <a:bodyPr anchor="b">
            <a:normAutofit/>
          </a:bodyPr>
          <a:lstStyle/>
          <a:p>
            <a:r>
              <a:rPr lang="en-US"/>
              <a:t>Driving Cost Efficiency for Partners</a:t>
            </a:r>
          </a:p>
        </p:txBody>
      </p:sp>
      <p:pic>
        <p:nvPicPr>
          <p:cNvPr id="8" name="Content Placeholder 7" descr="Industrial manufacturing process showing mold refurbishment and production efficiency improvements">
            <a:extLst>
              <a:ext uri="{FF2B5EF4-FFF2-40B4-BE49-F238E27FC236}">
                <a16:creationId xmlns:a16="http://schemas.microsoft.com/office/drawing/2014/main" id="{CC2991ED-B1DE-4EE5-BBA9-BA2BFEB54CDC}"/>
              </a:ext>
            </a:extLst>
          </p:cNvPr>
          <p:cNvPicPr>
            <a:picLocks noGrp="1" noChangeAspect="1"/>
          </p:cNvPicPr>
          <p:nvPr>
            <p:ph type="pic" sz="quarter" idx="15"/>
          </p:nvPr>
        </p:nvPicPr>
        <p:blipFill>
          <a:blip r:embed="rId3"/>
          <a:srcRect l="21640" r="4192" b="-1"/>
          <a:stretch>
            <a:fillRect/>
          </a:stretch>
        </p:blipFill>
        <p:spPr>
          <a:xfrm>
            <a:off x="20" y="10"/>
            <a:ext cx="7619980" cy="6857991"/>
          </a:xfrm>
        </p:spPr>
      </p:pic>
      <p:sp>
        <p:nvSpPr>
          <p:cNvPr id="3" name="Date Placeholder 2">
            <a:extLst>
              <a:ext uri="{FF2B5EF4-FFF2-40B4-BE49-F238E27FC236}">
                <a16:creationId xmlns:a16="http://schemas.microsoft.com/office/drawing/2014/main" id="{3FA57EF5-8DAC-F760-4E89-671B34427E47}"/>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D993EBD1-1B3F-D945-AA7A-FA26931205B3}"/>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B5B4F8D-86C2-99A8-ABCA-343744A60F82}"/>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16</a:t>
            </a:fld>
            <a:endParaRPr lang="en-US"/>
          </a:p>
        </p:txBody>
      </p:sp>
      <p:sp>
        <p:nvSpPr>
          <p:cNvPr id="7" name="Content Placeholder 6">
            <a:extLst>
              <a:ext uri="{FF2B5EF4-FFF2-40B4-BE49-F238E27FC236}">
                <a16:creationId xmlns:a16="http://schemas.microsoft.com/office/drawing/2014/main" id="{BB2C974B-8777-3BBD-78FA-4E740B3EFC6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spcBef>
                <a:spcPts val="2500"/>
              </a:spcBef>
              <a:buFont typeface="Arial" panose="020B0604020202020204" pitchFamily="34" charset="0"/>
              <a:buNone/>
            </a:pPr>
            <a:r>
              <a:rPr lang="en-US" b="1"/>
              <a:t>Precision Refurbishment Savings</a:t>
            </a:r>
          </a:p>
          <a:p>
            <a:pPr marL="0" lvl="1" indent="0">
              <a:buFont typeface="Arial" panose="020B0604020202020204" pitchFamily="34" charset="0"/>
              <a:buNone/>
            </a:pPr>
            <a:r>
              <a:t>Precision refurbishment reduces the need for full mold replacements, saving 25-35% in mold-related capital expenditures.</a:t>
            </a:r>
            <a:endParaRPr lang="en-US"/>
          </a:p>
          <a:p>
            <a:pPr marL="0" indent="0">
              <a:spcBef>
                <a:spcPts val="2500"/>
              </a:spcBef>
              <a:buFont typeface="Arial" panose="020B0604020202020204" pitchFamily="34" charset="0"/>
              <a:buNone/>
            </a:pPr>
            <a:r>
              <a:rPr lang="en-US" b="1"/>
              <a:t>Process Optimization Benefits</a:t>
            </a:r>
          </a:p>
          <a:p>
            <a:pPr marL="0" lvl="1" indent="0">
              <a:buFont typeface="Arial" panose="020B0604020202020204" pitchFamily="34" charset="0"/>
              <a:buNone/>
            </a:pPr>
            <a:r>
              <a:t>Optimizing production processes lowers downtime and scrap rates, significantly improving operational efficiency.</a:t>
            </a:r>
            <a:endParaRPr lang="en-US"/>
          </a:p>
        </p:txBody>
      </p:sp>
    </p:spTree>
    <p:extLst>
      <p:ext uri="{BB962C8B-B14F-4D97-AF65-F5344CB8AC3E}">
        <p14:creationId xmlns:p14="http://schemas.microsoft.com/office/powerpoint/2010/main" val="8463631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4FD31-4DC5-E599-A6CC-3DFAB9D30599}"/>
              </a:ext>
            </a:extLst>
          </p:cNvPr>
          <p:cNvSpPr>
            <a:spLocks noGrp="1"/>
          </p:cNvSpPr>
          <p:nvPr>
            <p:ph type="title"/>
          </p:nvPr>
        </p:nvSpPr>
        <p:spPr>
          <a:xfrm>
            <a:off x="8159103" y="952500"/>
            <a:ext cx="3239262" cy="1582882"/>
          </a:xfrm>
        </p:spPr>
        <p:txBody>
          <a:bodyPr anchor="b">
            <a:normAutofit/>
          </a:bodyPr>
          <a:lstStyle/>
          <a:p>
            <a:r>
              <a:rPr lang="en-US"/>
              <a:t>Enhancing Tire Production Quality and Consistency</a:t>
            </a:r>
          </a:p>
        </p:txBody>
      </p:sp>
      <p:pic>
        <p:nvPicPr>
          <p:cNvPr id="8" name="Content Placeholder 7" descr="Industrial tire manufacturing line with precision molds and high-quality finished tires">
            <a:extLst>
              <a:ext uri="{FF2B5EF4-FFF2-40B4-BE49-F238E27FC236}">
                <a16:creationId xmlns:a16="http://schemas.microsoft.com/office/drawing/2014/main" id="{05A95E79-E66B-4BFE-B14A-9DCD731F12FF}"/>
              </a:ext>
            </a:extLst>
          </p:cNvPr>
          <p:cNvPicPr>
            <a:picLocks noGrp="1" noChangeAspect="1"/>
          </p:cNvPicPr>
          <p:nvPr>
            <p:ph type="pic" sz="quarter" idx="15"/>
          </p:nvPr>
        </p:nvPicPr>
        <p:blipFill>
          <a:blip r:embed="rId3"/>
          <a:srcRect l="16220" r="9612" b="-1"/>
          <a:stretch>
            <a:fillRect/>
          </a:stretch>
        </p:blipFill>
        <p:spPr>
          <a:xfrm>
            <a:off x="20" y="10"/>
            <a:ext cx="7619980" cy="6857991"/>
          </a:xfrm>
        </p:spPr>
      </p:pic>
      <p:sp>
        <p:nvSpPr>
          <p:cNvPr id="3" name="Date Placeholder 2">
            <a:extLst>
              <a:ext uri="{FF2B5EF4-FFF2-40B4-BE49-F238E27FC236}">
                <a16:creationId xmlns:a16="http://schemas.microsoft.com/office/drawing/2014/main" id="{6143C5B8-FB14-F5B2-7795-705AB252CCC5}"/>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7A31F5CA-3FAB-BC1C-FD7B-35511A60565C}"/>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9EDE893D-BA68-8C3E-6A3E-9A055E2B4F09}"/>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17</a:t>
            </a:fld>
            <a:endParaRPr lang="en-US"/>
          </a:p>
        </p:txBody>
      </p:sp>
      <p:sp>
        <p:nvSpPr>
          <p:cNvPr id="7" name="Content Placeholder 6">
            <a:extLst>
              <a:ext uri="{FF2B5EF4-FFF2-40B4-BE49-F238E27FC236}">
                <a16:creationId xmlns:a16="http://schemas.microsoft.com/office/drawing/2014/main" id="{41FA423E-55DB-0966-ACD5-AD914FF10B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000" b="1"/>
              <a:t>Improved Mold Quality</a:t>
            </a:r>
          </a:p>
          <a:p>
            <a:pPr marL="0" lvl="1" indent="0">
              <a:lnSpc>
                <a:spcPct val="110000"/>
              </a:lnSpc>
              <a:buFont typeface="Arial" panose="020B0604020202020204" pitchFamily="34" charset="0"/>
              <a:buNone/>
            </a:pPr>
            <a:r>
              <a:rPr lang="en-US" sz="1000"/>
              <a:t>High-quality molds significantly improve tire uniformity and production reliability in manufacturing processes.</a:t>
            </a:r>
          </a:p>
          <a:p>
            <a:pPr marL="0" indent="0">
              <a:lnSpc>
                <a:spcPct val="110000"/>
              </a:lnSpc>
              <a:spcBef>
                <a:spcPts val="2500"/>
              </a:spcBef>
              <a:buFont typeface="Arial" panose="020B0604020202020204" pitchFamily="34" charset="0"/>
              <a:buNone/>
            </a:pPr>
            <a:r>
              <a:rPr lang="en-US" sz="1000" b="1"/>
              <a:t>Reduced Quality Defects</a:t>
            </a:r>
          </a:p>
          <a:p>
            <a:pPr marL="0" lvl="1" indent="0">
              <a:lnSpc>
                <a:spcPct val="110000"/>
              </a:lnSpc>
              <a:buFont typeface="Arial" panose="020B0604020202020204" pitchFamily="34" charset="0"/>
              <a:buNone/>
            </a:pPr>
            <a:r>
              <a:rPr lang="en-US" sz="1000"/>
              <a:t>Clients experience up to a 20% reduction in tire defects after adopting improved mold technology and services.</a:t>
            </a:r>
          </a:p>
          <a:p>
            <a:pPr marL="0" indent="0">
              <a:lnSpc>
                <a:spcPct val="110000"/>
              </a:lnSpc>
              <a:spcBef>
                <a:spcPts val="2500"/>
              </a:spcBef>
              <a:buFont typeface="Arial" panose="020B0604020202020204" pitchFamily="34" charset="0"/>
              <a:buNone/>
            </a:pPr>
            <a:r>
              <a:rPr lang="en-US" sz="1000" b="1"/>
              <a:t>Enhanced Brand Reputation</a:t>
            </a:r>
          </a:p>
          <a:p>
            <a:pPr marL="0" lvl="1" indent="0">
              <a:lnSpc>
                <a:spcPct val="110000"/>
              </a:lnSpc>
              <a:buFont typeface="Arial" panose="020B0604020202020204" pitchFamily="34" charset="0"/>
              <a:buNone/>
            </a:pPr>
            <a:r>
              <a:rPr lang="en-US" sz="1000"/>
              <a:t>Better tire quality leads to increased consumer confidence and stronger brand reputation in the market.</a:t>
            </a:r>
          </a:p>
        </p:txBody>
      </p:sp>
    </p:spTree>
    <p:extLst>
      <p:ext uri="{BB962C8B-B14F-4D97-AF65-F5344CB8AC3E}">
        <p14:creationId xmlns:p14="http://schemas.microsoft.com/office/powerpoint/2010/main" val="33019343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E0BD9-1D3F-1C50-03F2-3FD4C5CC8CE2}"/>
              </a:ext>
            </a:extLst>
          </p:cNvPr>
          <p:cNvSpPr>
            <a:spLocks noGrp="1"/>
          </p:cNvSpPr>
          <p:nvPr>
            <p:ph type="title"/>
          </p:nvPr>
        </p:nvSpPr>
        <p:spPr>
          <a:xfrm>
            <a:off x="8159103" y="952500"/>
            <a:ext cx="3239262" cy="1582882"/>
          </a:xfrm>
        </p:spPr>
        <p:txBody>
          <a:bodyPr anchor="b">
            <a:normAutofit/>
          </a:bodyPr>
          <a:lstStyle/>
          <a:p>
            <a:r>
              <a:rPr lang="en-US"/>
              <a:t>Increasing Overall Competitiveness in the Market</a:t>
            </a:r>
          </a:p>
        </p:txBody>
      </p:sp>
      <p:pic>
        <p:nvPicPr>
          <p:cNvPr id="8" name="Content Placeholder 7" descr="Modern tire manufacturing plant with cost efficiency and market growth elements">
            <a:extLst>
              <a:ext uri="{FF2B5EF4-FFF2-40B4-BE49-F238E27FC236}">
                <a16:creationId xmlns:a16="http://schemas.microsoft.com/office/drawing/2014/main" id="{EEEDD8D2-5846-48FB-8324-4D9DB8F04932}"/>
              </a:ext>
            </a:extLst>
          </p:cNvPr>
          <p:cNvPicPr>
            <a:picLocks noGrp="1" noChangeAspect="1"/>
          </p:cNvPicPr>
          <p:nvPr>
            <p:ph type="pic" sz="quarter" idx="15"/>
          </p:nvPr>
        </p:nvPicPr>
        <p:blipFill>
          <a:blip r:embed="rId3"/>
          <a:srcRect l="17001" r="8832" b="-1"/>
          <a:stretch>
            <a:fillRect/>
          </a:stretch>
        </p:blipFill>
        <p:spPr>
          <a:xfrm>
            <a:off x="20" y="10"/>
            <a:ext cx="7619980" cy="6857991"/>
          </a:xfrm>
        </p:spPr>
      </p:pic>
      <p:sp>
        <p:nvSpPr>
          <p:cNvPr id="3" name="Date Placeholder 2">
            <a:extLst>
              <a:ext uri="{FF2B5EF4-FFF2-40B4-BE49-F238E27FC236}">
                <a16:creationId xmlns:a16="http://schemas.microsoft.com/office/drawing/2014/main" id="{8AAB6AF2-EEEC-282C-8EC7-2E152939B31D}"/>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27B144F9-009A-6F6F-9831-B17205DD4D0E}"/>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C71043B0-C985-4D3E-871C-75ED96D5AD5E}"/>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18</a:t>
            </a:fld>
            <a:endParaRPr lang="en-US"/>
          </a:p>
        </p:txBody>
      </p:sp>
      <p:sp>
        <p:nvSpPr>
          <p:cNvPr id="7" name="Content Placeholder 6">
            <a:extLst>
              <a:ext uri="{FF2B5EF4-FFF2-40B4-BE49-F238E27FC236}">
                <a16:creationId xmlns:a16="http://schemas.microsoft.com/office/drawing/2014/main" id="{8FDE2C45-5A88-64E9-A89B-9C4DCBD11B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100" b="1"/>
              <a:t>Reducing Production Costs</a:t>
            </a:r>
          </a:p>
          <a:p>
            <a:pPr marL="0" lvl="1" indent="0">
              <a:lnSpc>
                <a:spcPct val="110000"/>
              </a:lnSpc>
              <a:buFont typeface="Arial" panose="020B0604020202020204" pitchFamily="34" charset="0"/>
              <a:buNone/>
            </a:pPr>
            <a:r>
              <a:rPr lang="en-US" sz="1100"/>
              <a:t>Lowering production costs enables partners to offer competitive pricing and improve profitability in the tire market.</a:t>
            </a:r>
          </a:p>
          <a:p>
            <a:pPr marL="0" indent="0">
              <a:lnSpc>
                <a:spcPct val="110000"/>
              </a:lnSpc>
              <a:spcBef>
                <a:spcPts val="2500"/>
              </a:spcBef>
              <a:buFont typeface="Arial" panose="020B0604020202020204" pitchFamily="34" charset="0"/>
              <a:buNone/>
            </a:pPr>
            <a:r>
              <a:rPr lang="en-US" sz="1100" b="1"/>
              <a:t>Enhancing Tire Quality</a:t>
            </a:r>
          </a:p>
          <a:p>
            <a:pPr marL="0" lvl="1" indent="0">
              <a:lnSpc>
                <a:spcPct val="110000"/>
              </a:lnSpc>
              <a:buFont typeface="Arial" panose="020B0604020202020204" pitchFamily="34" charset="0"/>
              <a:buNone/>
            </a:pPr>
            <a:r>
              <a:rPr lang="en-US" sz="1100"/>
              <a:t>Improved tire quality differentiates products and increases customer satisfaction and brand loyalty.</a:t>
            </a:r>
          </a:p>
          <a:p>
            <a:pPr marL="0" indent="0">
              <a:lnSpc>
                <a:spcPct val="110000"/>
              </a:lnSpc>
              <a:spcBef>
                <a:spcPts val="2500"/>
              </a:spcBef>
              <a:buFont typeface="Arial" panose="020B0604020202020204" pitchFamily="34" charset="0"/>
              <a:buNone/>
            </a:pPr>
            <a:r>
              <a:rPr lang="en-US" sz="1100" b="1"/>
              <a:t>Market Expansion and Share</a:t>
            </a:r>
          </a:p>
          <a:p>
            <a:pPr marL="0" lvl="1" indent="0">
              <a:lnSpc>
                <a:spcPct val="110000"/>
              </a:lnSpc>
              <a:buFont typeface="Arial" panose="020B0604020202020204" pitchFamily="34" charset="0"/>
              <a:buNone/>
            </a:pPr>
            <a:r>
              <a:rPr lang="en-US" sz="1100"/>
              <a:t>Competitive pricing and product differentiation facilitate global market expansion and increased market share.</a:t>
            </a:r>
          </a:p>
        </p:txBody>
      </p:sp>
    </p:spTree>
    <p:extLst>
      <p:ext uri="{BB962C8B-B14F-4D97-AF65-F5344CB8AC3E}">
        <p14:creationId xmlns:p14="http://schemas.microsoft.com/office/powerpoint/2010/main" val="3652008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896026-DCD5-961A-2F3B-D17CD8948806}"/>
              </a:ext>
            </a:extLst>
          </p:cNvPr>
          <p:cNvSpPr>
            <a:spLocks noGrp="1"/>
          </p:cNvSpPr>
          <p:nvPr>
            <p:ph type="title"/>
          </p:nvPr>
        </p:nvSpPr>
        <p:spPr>
          <a:xfrm>
            <a:off x="3018499" y="952500"/>
            <a:ext cx="8887299" cy="5636798"/>
          </a:xfrm>
        </p:spPr>
        <p:txBody>
          <a:bodyPr anchor="b">
            <a:normAutofit/>
          </a:bodyPr>
          <a:lstStyle/>
          <a:p>
            <a:r>
              <a:rPr lang="en-US"/>
              <a:t>Commitment to Service Excellence and Innovation</a:t>
            </a:r>
          </a:p>
        </p:txBody>
      </p:sp>
      <p:sp>
        <p:nvSpPr>
          <p:cNvPr id="5" name="Date Placeholder 4">
            <a:extLst>
              <a:ext uri="{FF2B5EF4-FFF2-40B4-BE49-F238E27FC236}">
                <a16:creationId xmlns:a16="http://schemas.microsoft.com/office/drawing/2014/main" id="{1E84C093-B99A-C412-E215-205E7F36C034}"/>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3/2/2026</a:t>
            </a:fld>
            <a:endParaRPr lang="en-US"/>
          </a:p>
        </p:txBody>
      </p:sp>
      <p:sp>
        <p:nvSpPr>
          <p:cNvPr id="6" name="Footer Placeholder 5">
            <a:extLst>
              <a:ext uri="{FF2B5EF4-FFF2-40B4-BE49-F238E27FC236}">
                <a16:creationId xmlns:a16="http://schemas.microsoft.com/office/drawing/2014/main" id="{39994EAB-6526-7CE1-9612-E30513CAD87A}"/>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2822AE1F-854C-129A-D056-A3368F0FD648}"/>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19</a:t>
            </a:fld>
            <a:endParaRPr lang="en-US"/>
          </a:p>
        </p:txBody>
      </p:sp>
    </p:spTree>
    <p:extLst>
      <p:ext uri="{BB962C8B-B14F-4D97-AF65-F5344CB8AC3E}">
        <p14:creationId xmlns:p14="http://schemas.microsoft.com/office/powerpoint/2010/main" val="26215974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8FC1-9065-737F-DE6F-B6A94982EF9B}"/>
              </a:ext>
            </a:extLst>
          </p:cNvPr>
          <p:cNvSpPr>
            <a:spLocks noGrp="1"/>
          </p:cNvSpPr>
          <p:nvPr>
            <p:ph type="title"/>
          </p:nvPr>
        </p:nvSpPr>
        <p:spPr>
          <a:xfrm>
            <a:off x="8159103" y="952500"/>
            <a:ext cx="3239262" cy="1582882"/>
          </a:xfrm>
        </p:spPr>
        <p:txBody>
          <a:bodyPr anchor="b">
            <a:normAutofit/>
          </a:bodyPr>
          <a:lstStyle/>
          <a:p>
            <a:r>
              <a:rPr lang="en-US"/>
              <a:t>Long-Term Partnership Approach and Customer Support</a:t>
            </a:r>
          </a:p>
        </p:txBody>
      </p:sp>
      <p:pic>
        <p:nvPicPr>
          <p:cNvPr id="8" name="Content Placeholder 7" descr="professional customer support team assisting clients with technical solutions and partnership growth">
            <a:extLst>
              <a:ext uri="{FF2B5EF4-FFF2-40B4-BE49-F238E27FC236}">
                <a16:creationId xmlns:a16="http://schemas.microsoft.com/office/drawing/2014/main" id="{441E1B81-399E-4478-B5EF-252B9D27858E}"/>
              </a:ext>
            </a:extLst>
          </p:cNvPr>
          <p:cNvPicPr>
            <a:picLocks noGrp="1" noChangeAspect="1"/>
          </p:cNvPicPr>
          <p:nvPr>
            <p:ph type="pic" sz="quarter" idx="15"/>
          </p:nvPr>
        </p:nvPicPr>
        <p:blipFill>
          <a:blip r:embed="rId3"/>
          <a:srcRect l="11695" r="14137" b="-1"/>
          <a:stretch>
            <a:fillRect/>
          </a:stretch>
        </p:blipFill>
        <p:spPr>
          <a:xfrm>
            <a:off x="20" y="10"/>
            <a:ext cx="7619980" cy="6857991"/>
          </a:xfrm>
        </p:spPr>
      </p:pic>
      <p:sp>
        <p:nvSpPr>
          <p:cNvPr id="3" name="Date Placeholder 2">
            <a:extLst>
              <a:ext uri="{FF2B5EF4-FFF2-40B4-BE49-F238E27FC236}">
                <a16:creationId xmlns:a16="http://schemas.microsoft.com/office/drawing/2014/main" id="{302B9691-CC5D-0A77-7AA7-3D076C1AC9F9}"/>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ADB1CC26-6FE6-7642-81AE-AEDD2C657B67}"/>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B04BD51A-7AA5-8D95-F7CA-33602D7484EA}"/>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20</a:t>
            </a:fld>
            <a:endParaRPr lang="en-US"/>
          </a:p>
        </p:txBody>
      </p:sp>
      <p:sp>
        <p:nvSpPr>
          <p:cNvPr id="7" name="Content Placeholder 6">
            <a:extLst>
              <a:ext uri="{FF2B5EF4-FFF2-40B4-BE49-F238E27FC236}">
                <a16:creationId xmlns:a16="http://schemas.microsoft.com/office/drawing/2014/main" id="{4BD4E879-5877-757F-3D46-98467FA2F78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000" b="1"/>
              <a:t>Dedicated Account Management</a:t>
            </a:r>
          </a:p>
          <a:p>
            <a:pPr marL="0" lvl="1" indent="0">
              <a:lnSpc>
                <a:spcPct val="110000"/>
              </a:lnSpc>
              <a:buFont typeface="Arial" panose="020B0604020202020204" pitchFamily="34" charset="0"/>
              <a:buNone/>
            </a:pPr>
            <a:r>
              <a:rPr lang="en-US" sz="1000"/>
              <a:t>Long-term partnerships are fostered through personalized account management focused on client needs and relationship building.</a:t>
            </a:r>
          </a:p>
          <a:p>
            <a:pPr marL="0" indent="0">
              <a:lnSpc>
                <a:spcPct val="110000"/>
              </a:lnSpc>
              <a:spcBef>
                <a:spcPts val="2500"/>
              </a:spcBef>
              <a:buFont typeface="Arial" panose="020B0604020202020204" pitchFamily="34" charset="0"/>
              <a:buNone/>
            </a:pPr>
            <a:r>
              <a:rPr lang="en-US" sz="1000" b="1"/>
              <a:t>24/7 Technical Support</a:t>
            </a:r>
          </a:p>
          <a:p>
            <a:pPr marL="0" lvl="1" indent="0">
              <a:lnSpc>
                <a:spcPct val="110000"/>
              </a:lnSpc>
              <a:buFont typeface="Arial" panose="020B0604020202020204" pitchFamily="34" charset="0"/>
              <a:buNone/>
            </a:pPr>
            <a:r>
              <a:rPr lang="en-US" sz="1000"/>
              <a:t>Round-the-clock technical support ensures rapid issue resolution and continuous operational success for customers.</a:t>
            </a:r>
          </a:p>
          <a:p>
            <a:pPr marL="0" indent="0">
              <a:lnSpc>
                <a:spcPct val="110000"/>
              </a:lnSpc>
              <a:spcBef>
                <a:spcPts val="2500"/>
              </a:spcBef>
              <a:buFont typeface="Arial" panose="020B0604020202020204" pitchFamily="34" charset="0"/>
              <a:buNone/>
            </a:pPr>
            <a:r>
              <a:rPr lang="en-US" sz="1000" b="1"/>
              <a:t>Continuous Improvement Programs</a:t>
            </a:r>
          </a:p>
          <a:p>
            <a:pPr marL="0" lvl="1" indent="0">
              <a:lnSpc>
                <a:spcPct val="110000"/>
              </a:lnSpc>
              <a:buFont typeface="Arial" panose="020B0604020202020204" pitchFamily="34" charset="0"/>
              <a:buNone/>
            </a:pPr>
            <a:r>
              <a:rPr lang="en-US" sz="1000"/>
              <a:t>Tailored service agreements and improvement programs drive ongoing enhancements and sustained client satisfaction.</a:t>
            </a:r>
          </a:p>
        </p:txBody>
      </p:sp>
    </p:spTree>
    <p:extLst>
      <p:ext uri="{BB962C8B-B14F-4D97-AF65-F5344CB8AC3E}">
        <p14:creationId xmlns:p14="http://schemas.microsoft.com/office/powerpoint/2010/main" val="5265143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67E3-7854-A9B8-03ED-FAD8D162982E}"/>
              </a:ext>
            </a:extLst>
          </p:cNvPr>
          <p:cNvSpPr>
            <a:spLocks noGrp="1"/>
          </p:cNvSpPr>
          <p:nvPr>
            <p:ph type="title"/>
          </p:nvPr>
        </p:nvSpPr>
        <p:spPr>
          <a:xfrm>
            <a:off x="8159103" y="952500"/>
            <a:ext cx="3239262" cy="1582882"/>
          </a:xfrm>
        </p:spPr>
        <p:txBody>
          <a:bodyPr anchor="b">
            <a:normAutofit/>
          </a:bodyPr>
          <a:lstStyle/>
          <a:p>
            <a:r>
              <a:rPr lang="en-US"/>
              <a:t>Leveraging Lean Operations and Advanced Technology</a:t>
            </a:r>
          </a:p>
        </p:txBody>
      </p:sp>
      <p:pic>
        <p:nvPicPr>
          <p:cNvPr id="8" name="Content Placeholder 7" descr="Robotic machining arms and AI systems streamlining lean manufacturing process and waste reduction">
            <a:extLst>
              <a:ext uri="{FF2B5EF4-FFF2-40B4-BE49-F238E27FC236}">
                <a16:creationId xmlns:a16="http://schemas.microsoft.com/office/drawing/2014/main" id="{85CCD8CC-4449-4D6E-9A53-1C4607B64865}"/>
              </a:ext>
            </a:extLst>
          </p:cNvPr>
          <p:cNvPicPr>
            <a:picLocks noGrp="1" noChangeAspect="1"/>
          </p:cNvPicPr>
          <p:nvPr>
            <p:ph type="pic" sz="quarter" idx="15"/>
          </p:nvPr>
        </p:nvPicPr>
        <p:blipFill>
          <a:blip r:embed="rId3"/>
          <a:srcRect l="12336" r="13497" b="-1"/>
          <a:stretch>
            <a:fillRect/>
          </a:stretch>
        </p:blipFill>
        <p:spPr>
          <a:xfrm>
            <a:off x="20" y="10"/>
            <a:ext cx="7619980" cy="6857991"/>
          </a:xfrm>
        </p:spPr>
      </p:pic>
      <p:sp>
        <p:nvSpPr>
          <p:cNvPr id="3" name="Date Placeholder 2">
            <a:extLst>
              <a:ext uri="{FF2B5EF4-FFF2-40B4-BE49-F238E27FC236}">
                <a16:creationId xmlns:a16="http://schemas.microsoft.com/office/drawing/2014/main" id="{47E1EE75-6138-E7BE-4872-5D55C8F50F1C}"/>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28CB3B7F-9B58-0015-8C62-5F6DA8D311A1}"/>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0A2B70B6-18AB-8DD5-D521-FB98FD3151AC}"/>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21</a:t>
            </a:fld>
            <a:endParaRPr lang="en-US"/>
          </a:p>
        </p:txBody>
      </p:sp>
      <p:sp>
        <p:nvSpPr>
          <p:cNvPr id="7" name="Content Placeholder 6">
            <a:extLst>
              <a:ext uri="{FF2B5EF4-FFF2-40B4-BE49-F238E27FC236}">
                <a16:creationId xmlns:a16="http://schemas.microsoft.com/office/drawing/2014/main" id="{CA02305C-0A8D-271F-84DE-5A3C2E8FE80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100" b="1"/>
              <a:t>Lean Manufacturing Principles</a:t>
            </a:r>
          </a:p>
          <a:p>
            <a:pPr marL="0" lvl="1" indent="0">
              <a:lnSpc>
                <a:spcPct val="110000"/>
              </a:lnSpc>
              <a:buFont typeface="Arial" panose="020B0604020202020204" pitchFamily="34" charset="0"/>
              <a:buNone/>
            </a:pPr>
            <a:r>
              <a:rPr lang="en-US" sz="1100"/>
              <a:t>Lean manufacturing focuses on eliminating waste and optimizing workflows for efficiency and productivity.</a:t>
            </a:r>
          </a:p>
          <a:p>
            <a:pPr marL="0" indent="0">
              <a:lnSpc>
                <a:spcPct val="110000"/>
              </a:lnSpc>
              <a:spcBef>
                <a:spcPts val="2500"/>
              </a:spcBef>
              <a:buFont typeface="Arial" panose="020B0604020202020204" pitchFamily="34" charset="0"/>
              <a:buNone/>
            </a:pPr>
            <a:r>
              <a:rPr lang="en-US" sz="1100" b="1"/>
              <a:t>Robotic Machining Arms</a:t>
            </a:r>
          </a:p>
          <a:p>
            <a:pPr marL="0" lvl="1" indent="0">
              <a:lnSpc>
                <a:spcPct val="110000"/>
              </a:lnSpc>
              <a:buFont typeface="Arial" panose="020B0604020202020204" pitchFamily="34" charset="0"/>
              <a:buNone/>
            </a:pPr>
            <a:r>
              <a:rPr lang="en-US" sz="1100"/>
              <a:t>Automation through robotic machining arms enhances precision and speeds up production processes.</a:t>
            </a:r>
          </a:p>
          <a:p>
            <a:pPr marL="0" indent="0">
              <a:lnSpc>
                <a:spcPct val="110000"/>
              </a:lnSpc>
              <a:spcBef>
                <a:spcPts val="2500"/>
              </a:spcBef>
              <a:buFont typeface="Arial" panose="020B0604020202020204" pitchFamily="34" charset="0"/>
              <a:buNone/>
            </a:pPr>
            <a:r>
              <a:rPr lang="en-US" sz="1100" b="1"/>
              <a:t>AI-Driven Defect Detection</a:t>
            </a:r>
          </a:p>
          <a:p>
            <a:pPr marL="0" lvl="1" indent="0">
              <a:lnSpc>
                <a:spcPct val="110000"/>
              </a:lnSpc>
              <a:buFont typeface="Arial" panose="020B0604020202020204" pitchFamily="34" charset="0"/>
              <a:buNone/>
            </a:pPr>
            <a:r>
              <a:rPr lang="en-US" sz="1100"/>
              <a:t>AI-powered defect detection improves quality control by identifying flaws quickly and accurately.</a:t>
            </a:r>
          </a:p>
        </p:txBody>
      </p:sp>
    </p:spTree>
    <p:extLst>
      <p:ext uri="{BB962C8B-B14F-4D97-AF65-F5344CB8AC3E}">
        <p14:creationId xmlns:p14="http://schemas.microsoft.com/office/powerpoint/2010/main" val="1027520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9D4B2-0189-4289-B8EB-FDCCDF340267}"/>
              </a:ext>
            </a:extLst>
          </p:cNvPr>
          <p:cNvSpPr>
            <a:spLocks noGrp="1"/>
          </p:cNvSpPr>
          <p:nvPr>
            <p:ph type="title"/>
          </p:nvPr>
        </p:nvSpPr>
        <p:spPr>
          <a:xfrm>
            <a:off x="8159103" y="952500"/>
            <a:ext cx="3239262" cy="1582882"/>
          </a:xfrm>
        </p:spPr>
        <p:txBody>
          <a:bodyPr anchor="b">
            <a:normAutofit/>
          </a:bodyPr>
          <a:lstStyle/>
          <a:p>
            <a:r>
              <a:rPr lang="en-US"/>
              <a:t>Future Outlook: Adapting to Evolving Industry Needs</a:t>
            </a:r>
          </a:p>
        </p:txBody>
      </p:sp>
      <p:pic>
        <p:nvPicPr>
          <p:cNvPr id="8" name="Content Placeholder 7" descr="Electric vehicle tires, sustainable materials, eco-friendly manufacturing, and advanced smart factory equipment">
            <a:extLst>
              <a:ext uri="{FF2B5EF4-FFF2-40B4-BE49-F238E27FC236}">
                <a16:creationId xmlns:a16="http://schemas.microsoft.com/office/drawing/2014/main" id="{C15D1CE7-390A-46F9-B5CD-744B3FF1CC21}"/>
              </a:ext>
            </a:extLst>
          </p:cNvPr>
          <p:cNvPicPr>
            <a:picLocks noGrp="1" noChangeAspect="1"/>
          </p:cNvPicPr>
          <p:nvPr>
            <p:ph type="pic" sz="quarter" idx="15"/>
          </p:nvPr>
        </p:nvPicPr>
        <p:blipFill>
          <a:blip r:embed="rId3"/>
          <a:srcRect l="9303" r="16529" b="-1"/>
          <a:stretch>
            <a:fillRect/>
          </a:stretch>
        </p:blipFill>
        <p:spPr>
          <a:xfrm>
            <a:off x="20" y="10"/>
            <a:ext cx="7619980" cy="6857991"/>
          </a:xfrm>
        </p:spPr>
      </p:pic>
      <p:sp>
        <p:nvSpPr>
          <p:cNvPr id="3" name="Date Placeholder 2">
            <a:extLst>
              <a:ext uri="{FF2B5EF4-FFF2-40B4-BE49-F238E27FC236}">
                <a16:creationId xmlns:a16="http://schemas.microsoft.com/office/drawing/2014/main" id="{BBAFD888-0E5C-1A6E-C33B-2BED6CD521F4}"/>
              </a:ext>
            </a:extLst>
          </p:cNvPr>
          <p:cNvSpPr>
            <a:spLocks noGrp="1"/>
          </p:cNvSpPr>
          <p:nvPr>
            <p:ph type="dt" sz="half" idx="16"/>
          </p:nvPr>
        </p:nvSpPr>
        <p:spPr>
          <a:xfrm>
            <a:off x="381000" y="210114"/>
            <a:ext cx="1413537" cy="365760"/>
          </a:xfrm>
        </p:spPr>
        <p:txBody>
          <a:bodyPr anchor="ctr">
            <a:normAutofit/>
          </a:bodyPr>
          <a:lstStyle/>
          <a:p>
            <a:pPr>
              <a:spcAft>
                <a:spcPts val="600"/>
              </a:spcAft>
            </a:pPr>
            <a:fld id="{7B01CFC0-D171-4F9D-A610-2F47C1080058}"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A0FE9754-57F6-8627-1FF4-ABEAE97C152E}"/>
              </a:ext>
            </a:extLst>
          </p:cNvPr>
          <p:cNvSpPr>
            <a:spLocks noGrp="1"/>
          </p:cNvSpPr>
          <p:nvPr>
            <p:ph type="ftr" sz="quarter" idx="17"/>
          </p:nvPr>
        </p:nvSpPr>
        <p:spPr>
          <a:xfrm>
            <a:off x="8150916" y="210114"/>
            <a:ext cx="233352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51D8FE5A-C6A0-709D-C444-BD81F2264FB5}"/>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22</a:t>
            </a:fld>
            <a:endParaRPr lang="en-US"/>
          </a:p>
        </p:txBody>
      </p:sp>
      <p:sp>
        <p:nvSpPr>
          <p:cNvPr id="7" name="Content Placeholder 6">
            <a:extLst>
              <a:ext uri="{FF2B5EF4-FFF2-40B4-BE49-F238E27FC236}">
                <a16:creationId xmlns:a16="http://schemas.microsoft.com/office/drawing/2014/main" id="{034A55C6-AAB4-80AB-0067-7E28445219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59103" y="3103929"/>
            <a:ext cx="3239262" cy="3109836"/>
          </a:xfrm>
        </p:spPr>
        <p:txBody>
          <a:bodyPr>
            <a:normAutofit/>
          </a:bodyPr>
          <a:lstStyle/>
          <a:p>
            <a:pPr marL="0" indent="0">
              <a:lnSpc>
                <a:spcPct val="110000"/>
              </a:lnSpc>
              <a:spcBef>
                <a:spcPts val="2500"/>
              </a:spcBef>
              <a:buFont typeface="Arial" panose="020B0604020202020204" pitchFamily="34" charset="0"/>
              <a:buNone/>
            </a:pPr>
            <a:r>
              <a:rPr lang="en-US" sz="1000" b="1"/>
              <a:t>Electric Vehicle Tire Demand</a:t>
            </a:r>
          </a:p>
          <a:p>
            <a:pPr marL="0" lvl="1" indent="0">
              <a:lnSpc>
                <a:spcPct val="110000"/>
              </a:lnSpc>
              <a:buFont typeface="Arial" panose="020B0604020202020204" pitchFamily="34" charset="0"/>
              <a:buNone/>
            </a:pPr>
            <a:r>
              <a:rPr lang="en-US" sz="1000"/>
              <a:t>Growing electric vehicle market increases demand for specialized tires designed for performance and sustainability.</a:t>
            </a:r>
          </a:p>
          <a:p>
            <a:pPr marL="0" indent="0">
              <a:lnSpc>
                <a:spcPct val="110000"/>
              </a:lnSpc>
              <a:spcBef>
                <a:spcPts val="2500"/>
              </a:spcBef>
              <a:buFont typeface="Arial" panose="020B0604020202020204" pitchFamily="34" charset="0"/>
              <a:buNone/>
            </a:pPr>
            <a:r>
              <a:rPr lang="en-US" sz="1000" b="1"/>
              <a:t>Sustainable Material Innovation</a:t>
            </a:r>
          </a:p>
          <a:p>
            <a:pPr marL="0" lvl="1" indent="0">
              <a:lnSpc>
                <a:spcPct val="110000"/>
              </a:lnSpc>
              <a:buFont typeface="Arial" panose="020B0604020202020204" pitchFamily="34" charset="0"/>
              <a:buNone/>
            </a:pPr>
            <a:r>
              <a:rPr lang="en-US" sz="1000"/>
              <a:t>Investment in eco-friendly molds supports use of sustainable materials reducing environmental impact in tire production.</a:t>
            </a:r>
          </a:p>
          <a:p>
            <a:pPr marL="0" indent="0">
              <a:lnSpc>
                <a:spcPct val="110000"/>
              </a:lnSpc>
              <a:spcBef>
                <a:spcPts val="2500"/>
              </a:spcBef>
              <a:buFont typeface="Arial" panose="020B0604020202020204" pitchFamily="34" charset="0"/>
              <a:buNone/>
            </a:pPr>
            <a:r>
              <a:rPr lang="en-US" sz="1000" b="1"/>
              <a:t>Smart Manufacturing Capabilities</a:t>
            </a:r>
          </a:p>
          <a:p>
            <a:pPr marL="0" lvl="1" indent="0">
              <a:lnSpc>
                <a:spcPct val="110000"/>
              </a:lnSpc>
              <a:buFont typeface="Arial" panose="020B0604020202020204" pitchFamily="34" charset="0"/>
              <a:buNone/>
            </a:pPr>
            <a:r>
              <a:rPr lang="en-US" sz="1000"/>
              <a:t>Advanced smart manufacturing enables efficient, high-quality production adapting to evolving industry regulations and needs.</a:t>
            </a:r>
          </a:p>
        </p:txBody>
      </p:sp>
    </p:spTree>
    <p:extLst>
      <p:ext uri="{BB962C8B-B14F-4D97-AF65-F5344CB8AC3E}">
        <p14:creationId xmlns:p14="http://schemas.microsoft.com/office/powerpoint/2010/main" val="3409862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6F4EC-23BF-645A-32B2-0FFBCACDCC88}"/>
              </a:ext>
            </a:extLst>
          </p:cNvPr>
          <p:cNvSpPr>
            <a:spLocks noGrp="1"/>
          </p:cNvSpPr>
          <p:nvPr>
            <p:ph type="title"/>
          </p:nvPr>
        </p:nvSpPr>
        <p:spPr>
          <a:xfrm>
            <a:off x="301752" y="983230"/>
            <a:ext cx="9830017" cy="877376"/>
          </a:xfrm>
        </p:spPr>
        <p:txBody>
          <a:bodyPr anchor="t">
            <a:normAutofit/>
          </a:bodyPr>
          <a:lstStyle/>
          <a:p>
            <a:r>
              <a:rPr lang="en-US" sz="2800"/>
              <a:t>Conclusion: Driving Innovation and Excellence in Tire Mold Services</a:t>
            </a:r>
          </a:p>
        </p:txBody>
      </p:sp>
      <p:sp>
        <p:nvSpPr>
          <p:cNvPr id="3" name="Date Placeholder 2">
            <a:extLst>
              <a:ext uri="{FF2B5EF4-FFF2-40B4-BE49-F238E27FC236}">
                <a16:creationId xmlns:a16="http://schemas.microsoft.com/office/drawing/2014/main" id="{F0E9CDDA-1C37-6E9C-F4A2-378B4CF29524}"/>
              </a:ext>
            </a:extLst>
          </p:cNvPr>
          <p:cNvSpPr>
            <a:spLocks noGrp="1"/>
          </p:cNvSpPr>
          <p:nvPr>
            <p:ph type="dt" sz="half" idx="15"/>
          </p:nvPr>
        </p:nvSpPr>
        <p:spPr>
          <a:xfrm>
            <a:off x="301752" y="210114"/>
            <a:ext cx="1759288" cy="365760"/>
          </a:xfrm>
        </p:spPr>
        <p:txBody>
          <a:bodyPr anchor="ctr">
            <a:normAutofit/>
          </a:bodyPr>
          <a:lstStyle/>
          <a:p>
            <a:pPr>
              <a:spcAft>
                <a:spcPts val="600"/>
              </a:spcAft>
            </a:pPr>
            <a:fld id="{80EE6BAA-0080-49BB-A5F6-D96B22DFE410}" type="datetime1">
              <a:rPr lang="en-US" smtClean="0"/>
              <a:pPr>
                <a:spcAft>
                  <a:spcPts val="600"/>
                </a:spcAft>
              </a:pPr>
              <a:t>3/2/2026</a:t>
            </a:fld>
            <a:endParaRPr lang="en-US"/>
          </a:p>
        </p:txBody>
      </p:sp>
      <p:sp>
        <p:nvSpPr>
          <p:cNvPr id="4" name="Footer Placeholder 3">
            <a:extLst>
              <a:ext uri="{FF2B5EF4-FFF2-40B4-BE49-F238E27FC236}">
                <a16:creationId xmlns:a16="http://schemas.microsoft.com/office/drawing/2014/main" id="{89D6CE23-68C8-B16A-1D24-DBDCE463235C}"/>
              </a:ext>
            </a:extLst>
          </p:cNvPr>
          <p:cNvSpPr>
            <a:spLocks noGrp="1"/>
          </p:cNvSpPr>
          <p:nvPr>
            <p:ph type="ftr" sz="quarter" idx="16"/>
          </p:nvPr>
        </p:nvSpPr>
        <p:spPr>
          <a:xfrm>
            <a:off x="7622485" y="210114"/>
            <a:ext cx="250928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97E0DB3F-48A3-F73C-F3ED-46BEBD42587F}"/>
              </a:ext>
            </a:extLst>
          </p:cNvPr>
          <p:cNvSpPr>
            <a:spLocks noGrp="1"/>
          </p:cNvSpPr>
          <p:nvPr>
            <p:ph type="sldNum" sz="quarter" idx="17"/>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23</a:t>
            </a:fld>
            <a:endParaRPr lang="en-US"/>
          </a:p>
        </p:txBody>
      </p:sp>
      <p:graphicFrame>
        <p:nvGraphicFramePr>
          <p:cNvPr id="10" name="Content Placeholder 5">
            <a:extLst>
              <a:ext uri="{FF2B5EF4-FFF2-40B4-BE49-F238E27FC236}">
                <a16:creationId xmlns:a16="http://schemas.microsoft.com/office/drawing/2014/main" id="{DEE01F5D-D164-0C5E-C80E-8910136100C4}"/>
              </a:ext>
            </a:extLst>
          </p:cNvPr>
          <p:cNvGraphicFramePr>
            <a:graphicFrameLocks noGrp="1"/>
          </p:cNvGraphicFramePr>
          <p:nvPr>
            <p:ph sz="quarter" idx="14"/>
            <p:extLst>
              <p:ext uri="{D42A27DB-BD31-4B8C-83A1-F6EECF244321}">
                <p14:modId xmlns:p14="http://schemas.microsoft.com/office/powerpoint/2010/main" val="3046558411"/>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3241964" y="3429000"/>
          <a:ext cx="8226135" cy="2434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5849309"/>
      </p:ext>
    </p:extLst>
  </p:cSld>
  <p:clrMapOvr>
    <a:masterClrMapping/>
  </p:clrMapOvr>
  <p:transition>
    <p:fade/>
  </p:transition>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2350</Words>
  <Application>Microsoft Office PowerPoint</Application>
  <PresentationFormat>Widescreen</PresentationFormat>
  <Paragraphs>244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Arial Nova Light</vt:lpstr>
      <vt:lpstr>Neue Haas Grotesk Text Pro</vt:lpstr>
      <vt:lpstr>Dark gradient</vt:lpstr>
      <vt:lpstr>Crown Precision Mold &amp; Machine: Revolutionizing Tire Mold Services for Global Tire Producers (Fictional Company Established in 2026)</vt:lpstr>
      <vt:lpstr>Agenda Items</vt:lpstr>
      <vt:lpstr>Company Origins and Founding Vision</vt:lpstr>
      <vt:lpstr>Establishment in 2026 by Industry Veterans</vt:lpstr>
      <vt:lpstr>Founders’ Expertise and Experience</vt:lpstr>
      <vt:lpstr>Mission and Values Driving the Company</vt:lpstr>
      <vt:lpstr>Strategic Partnerships with Leading Tire Manufacturers</vt:lpstr>
      <vt:lpstr>Collaborations with Major Brands Like Goodyear, Bridgestone Firestone, and Continental Tire</vt:lpstr>
      <vt:lpstr>Supporting a Global Client Base Including Pirelli, Yokohama, Toyo Tires, JK Tornel, and More</vt:lpstr>
      <vt:lpstr>Impact of Partnerships on the Tire Industry</vt:lpstr>
      <vt:lpstr>Comprehensive Tire Mold Services</vt:lpstr>
      <vt:lpstr>Refurbishment, Repair, and Modification Processes</vt:lpstr>
      <vt:lpstr>Cleaning, Certification, and Quality Assurance</vt:lpstr>
      <vt:lpstr>Ensuring Optimal Mold Readiness and Performance</vt:lpstr>
      <vt:lpstr>Value Delivered: Cost Savings, Quality Improvement, and Market Competitiveness</vt:lpstr>
      <vt:lpstr>Driving Cost Efficiency for Partners</vt:lpstr>
      <vt:lpstr>Enhancing Tire Production Quality and Consistency</vt:lpstr>
      <vt:lpstr>Increasing Overall Competitiveness in the Market</vt:lpstr>
      <vt:lpstr>Commitment to Service Excellence and Innovation</vt:lpstr>
      <vt:lpstr>Long-Term Partnership Approach and Customer Support</vt:lpstr>
      <vt:lpstr>Leveraging Lean Operations and Advanced Technology</vt:lpstr>
      <vt:lpstr>Future Outlook: Adapting to Evolving Industry Needs</vt:lpstr>
      <vt:lpstr>Conclusion: Driving Innovation and Excellence in Tire Mold Services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Marco Antonio Restrepo Sorrosa</dc:creator>
  <cp:lastModifiedBy>Marco Antonio Restrepo Sorrosa</cp:lastModifiedBy>
  <cp:revision>1</cp:revision>
  <dcterms:created xsi:type="dcterms:W3CDTF">2026-03-03T03:15:29Z</dcterms:created>
  <dcterms:modified xsi:type="dcterms:W3CDTF">2026-03-03T03:39:23Z</dcterms:modified>
</cp:coreProperties>
</file>